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
  </p:notesMasterIdLst>
  <p:handoutMasterIdLst>
    <p:handoutMasterId r:id="rId19"/>
  </p:handoutMasterIdLst>
  <p:sldIdLst>
    <p:sldId id="256" r:id="rId2"/>
    <p:sldId id="439" r:id="rId3"/>
    <p:sldId id="448" r:id="rId4"/>
    <p:sldId id="440" r:id="rId5"/>
    <p:sldId id="450" r:id="rId6"/>
    <p:sldId id="451" r:id="rId7"/>
    <p:sldId id="441" r:id="rId8"/>
    <p:sldId id="452" r:id="rId9"/>
    <p:sldId id="453" r:id="rId10"/>
    <p:sldId id="442" r:id="rId11"/>
    <p:sldId id="443" r:id="rId12"/>
    <p:sldId id="444" r:id="rId13"/>
    <p:sldId id="445" r:id="rId14"/>
    <p:sldId id="446" r:id="rId15"/>
    <p:sldId id="447" r:id="rId16"/>
    <p:sldId id="449" r:id="rId17"/>
  </p:sldIdLst>
  <p:sldSz cx="9144000" cy="6858000" type="screen4x3"/>
  <p:notesSz cx="7045325" cy="9345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2E9A"/>
    <a:srgbClr val="5BEB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3B231E-9B22-5FD1-1F79-98B2C07BCCC1}" v="1" dt="2023-08-18T16:18:24.996"/>
    <p1510:client id="{45EA0B7E-8A23-611C-ACFD-B71CB8F4C47E}" v="798" dt="2023-08-18T17:49:30.829"/>
    <p1510:client id="{6F8AA3FB-2508-C3AD-40DA-C1B363E10C4D}" v="30" dt="2023-08-18T12:40:00.005"/>
    <p1510:client id="{81DFFCFD-6E4C-4CDA-A2DE-70C71535B4AA}" v="2" dt="2023-08-18T12:39:01.1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2974" cy="467281"/>
          </a:xfrm>
          <a:prstGeom prst="rect">
            <a:avLst/>
          </a:prstGeom>
        </p:spPr>
        <p:txBody>
          <a:bodyPr vert="horz" lIns="93662" tIns="46831" rIns="93662" bIns="46831" rtlCol="0"/>
          <a:lstStyle>
            <a:lvl1pPr algn="l">
              <a:defRPr sz="1200"/>
            </a:lvl1pPr>
          </a:lstStyle>
          <a:p>
            <a:endParaRPr lang="en-US"/>
          </a:p>
        </p:txBody>
      </p:sp>
      <p:sp>
        <p:nvSpPr>
          <p:cNvPr id="3" name="Date Placeholder 2"/>
          <p:cNvSpPr>
            <a:spLocks noGrp="1"/>
          </p:cNvSpPr>
          <p:nvPr>
            <p:ph type="dt" sz="quarter" idx="1"/>
          </p:nvPr>
        </p:nvSpPr>
        <p:spPr>
          <a:xfrm>
            <a:off x="3990721" y="0"/>
            <a:ext cx="3052974" cy="467281"/>
          </a:xfrm>
          <a:prstGeom prst="rect">
            <a:avLst/>
          </a:prstGeom>
        </p:spPr>
        <p:txBody>
          <a:bodyPr vert="horz" lIns="93662" tIns="46831" rIns="93662" bIns="46831" rtlCol="0"/>
          <a:lstStyle>
            <a:lvl1pPr algn="r">
              <a:defRPr sz="1200"/>
            </a:lvl1pPr>
          </a:lstStyle>
          <a:p>
            <a:fld id="{0305732A-0070-494F-ADCD-E2D8600C03B7}" type="datetimeFigureOut">
              <a:rPr lang="en-US" smtClean="0"/>
              <a:pPr/>
              <a:t>8/19/2023</a:t>
            </a:fld>
            <a:endParaRPr lang="en-US"/>
          </a:p>
        </p:txBody>
      </p:sp>
      <p:sp>
        <p:nvSpPr>
          <p:cNvPr id="4" name="Footer Placeholder 3"/>
          <p:cNvSpPr>
            <a:spLocks noGrp="1"/>
          </p:cNvSpPr>
          <p:nvPr>
            <p:ph type="ftr" sz="quarter" idx="2"/>
          </p:nvPr>
        </p:nvSpPr>
        <p:spPr>
          <a:xfrm>
            <a:off x="0" y="8876710"/>
            <a:ext cx="3052974" cy="467281"/>
          </a:xfrm>
          <a:prstGeom prst="rect">
            <a:avLst/>
          </a:prstGeom>
        </p:spPr>
        <p:txBody>
          <a:bodyPr vert="horz" lIns="93662" tIns="46831" rIns="93662" bIns="46831" rtlCol="0" anchor="b"/>
          <a:lstStyle>
            <a:lvl1pPr algn="l">
              <a:defRPr sz="1200"/>
            </a:lvl1pPr>
          </a:lstStyle>
          <a:p>
            <a:endParaRPr lang="en-US"/>
          </a:p>
        </p:txBody>
      </p:sp>
      <p:sp>
        <p:nvSpPr>
          <p:cNvPr id="5" name="Slide Number Placeholder 4"/>
          <p:cNvSpPr>
            <a:spLocks noGrp="1"/>
          </p:cNvSpPr>
          <p:nvPr>
            <p:ph type="sldNum" sz="quarter" idx="3"/>
          </p:nvPr>
        </p:nvSpPr>
        <p:spPr>
          <a:xfrm>
            <a:off x="3990721" y="8876710"/>
            <a:ext cx="3052974" cy="467281"/>
          </a:xfrm>
          <a:prstGeom prst="rect">
            <a:avLst/>
          </a:prstGeom>
        </p:spPr>
        <p:txBody>
          <a:bodyPr vert="horz" lIns="93662" tIns="46831" rIns="93662" bIns="46831" rtlCol="0" anchor="b"/>
          <a:lstStyle>
            <a:lvl1pPr algn="r">
              <a:defRPr sz="1200"/>
            </a:lvl1pPr>
          </a:lstStyle>
          <a:p>
            <a:fld id="{D47CEDE9-DA33-4245-B74C-F2363DED9ED8}" type="slidenum">
              <a:rPr lang="en-US" smtClean="0"/>
              <a:pPr/>
              <a:t>‹#›</a:t>
            </a:fld>
            <a:endParaRPr lang="en-US"/>
          </a:p>
        </p:txBody>
      </p:sp>
    </p:spTree>
    <p:extLst>
      <p:ext uri="{BB962C8B-B14F-4D97-AF65-F5344CB8AC3E}">
        <p14:creationId xmlns:p14="http://schemas.microsoft.com/office/powerpoint/2010/main" val="28532403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2974" cy="467281"/>
          </a:xfrm>
          <a:prstGeom prst="rect">
            <a:avLst/>
          </a:prstGeom>
        </p:spPr>
        <p:txBody>
          <a:bodyPr vert="horz" lIns="93662" tIns="46831" rIns="93662" bIns="46831" rtlCol="0"/>
          <a:lstStyle>
            <a:lvl1pPr algn="l">
              <a:defRPr sz="1200"/>
            </a:lvl1pPr>
          </a:lstStyle>
          <a:p>
            <a:endParaRPr lang="en-US"/>
          </a:p>
        </p:txBody>
      </p:sp>
      <p:sp>
        <p:nvSpPr>
          <p:cNvPr id="3" name="Date Placeholder 2"/>
          <p:cNvSpPr>
            <a:spLocks noGrp="1"/>
          </p:cNvSpPr>
          <p:nvPr>
            <p:ph type="dt" idx="1"/>
          </p:nvPr>
        </p:nvSpPr>
        <p:spPr>
          <a:xfrm>
            <a:off x="3990721" y="0"/>
            <a:ext cx="3052974" cy="467281"/>
          </a:xfrm>
          <a:prstGeom prst="rect">
            <a:avLst/>
          </a:prstGeom>
        </p:spPr>
        <p:txBody>
          <a:bodyPr vert="horz" lIns="93662" tIns="46831" rIns="93662" bIns="46831" rtlCol="0"/>
          <a:lstStyle>
            <a:lvl1pPr algn="r">
              <a:defRPr sz="1200"/>
            </a:lvl1pPr>
          </a:lstStyle>
          <a:p>
            <a:fld id="{78AD1AC7-0A8D-439C-9FAC-691C8D7F0315}" type="datetimeFigureOut">
              <a:rPr lang="en-US" smtClean="0"/>
              <a:pPr/>
              <a:t>8/19/2023</a:t>
            </a:fld>
            <a:endParaRPr lang="en-US"/>
          </a:p>
        </p:txBody>
      </p:sp>
      <p:sp>
        <p:nvSpPr>
          <p:cNvPr id="4" name="Slide Image Placeholder 3"/>
          <p:cNvSpPr>
            <a:spLocks noGrp="1" noRot="1" noChangeAspect="1"/>
          </p:cNvSpPr>
          <p:nvPr>
            <p:ph type="sldImg" idx="2"/>
          </p:nvPr>
        </p:nvSpPr>
        <p:spPr>
          <a:xfrm>
            <a:off x="1187450" y="701675"/>
            <a:ext cx="4670425" cy="3503613"/>
          </a:xfrm>
          <a:prstGeom prst="rect">
            <a:avLst/>
          </a:prstGeom>
          <a:noFill/>
          <a:ln w="12700">
            <a:solidFill>
              <a:prstClr val="black"/>
            </a:solidFill>
          </a:ln>
        </p:spPr>
        <p:txBody>
          <a:bodyPr vert="horz" lIns="93662" tIns="46831" rIns="93662" bIns="46831" rtlCol="0" anchor="ctr"/>
          <a:lstStyle/>
          <a:p>
            <a:endParaRPr lang="en-US"/>
          </a:p>
        </p:txBody>
      </p:sp>
      <p:sp>
        <p:nvSpPr>
          <p:cNvPr id="5" name="Notes Placeholder 4"/>
          <p:cNvSpPr>
            <a:spLocks noGrp="1"/>
          </p:cNvSpPr>
          <p:nvPr>
            <p:ph type="body" sz="quarter" idx="3"/>
          </p:nvPr>
        </p:nvSpPr>
        <p:spPr>
          <a:xfrm>
            <a:off x="704533" y="4439166"/>
            <a:ext cx="5636260" cy="4205526"/>
          </a:xfrm>
          <a:prstGeom prst="rect">
            <a:avLst/>
          </a:prstGeom>
        </p:spPr>
        <p:txBody>
          <a:bodyPr vert="horz" lIns="93662" tIns="46831" rIns="93662" bIns="468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76710"/>
            <a:ext cx="3052974" cy="467281"/>
          </a:xfrm>
          <a:prstGeom prst="rect">
            <a:avLst/>
          </a:prstGeom>
        </p:spPr>
        <p:txBody>
          <a:bodyPr vert="horz" lIns="93662" tIns="46831" rIns="93662" bIns="46831" rtlCol="0" anchor="b"/>
          <a:lstStyle>
            <a:lvl1pPr algn="l">
              <a:defRPr sz="1200"/>
            </a:lvl1pPr>
          </a:lstStyle>
          <a:p>
            <a:endParaRPr lang="en-US"/>
          </a:p>
        </p:txBody>
      </p:sp>
      <p:sp>
        <p:nvSpPr>
          <p:cNvPr id="7" name="Slide Number Placeholder 6"/>
          <p:cNvSpPr>
            <a:spLocks noGrp="1"/>
          </p:cNvSpPr>
          <p:nvPr>
            <p:ph type="sldNum" sz="quarter" idx="5"/>
          </p:nvPr>
        </p:nvSpPr>
        <p:spPr>
          <a:xfrm>
            <a:off x="3990721" y="8876710"/>
            <a:ext cx="3052974" cy="467281"/>
          </a:xfrm>
          <a:prstGeom prst="rect">
            <a:avLst/>
          </a:prstGeom>
        </p:spPr>
        <p:txBody>
          <a:bodyPr vert="horz" lIns="93662" tIns="46831" rIns="93662" bIns="46831" rtlCol="0" anchor="b"/>
          <a:lstStyle>
            <a:lvl1pPr algn="r">
              <a:defRPr sz="1200"/>
            </a:lvl1pPr>
          </a:lstStyle>
          <a:p>
            <a:fld id="{67F623AD-186D-49CE-8B76-2774BF76A1DC}" type="slidenum">
              <a:rPr lang="en-US" smtClean="0"/>
              <a:pPr/>
              <a:t>‹#›</a:t>
            </a:fld>
            <a:endParaRPr lang="en-US"/>
          </a:p>
        </p:txBody>
      </p:sp>
    </p:spTree>
    <p:extLst>
      <p:ext uri="{BB962C8B-B14F-4D97-AF65-F5344CB8AC3E}">
        <p14:creationId xmlns:p14="http://schemas.microsoft.com/office/powerpoint/2010/main" val="76077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F623AD-186D-49CE-8B76-2774BF76A1DC}"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7143A7AD-54C0-44EC-852C-5E7DD53B8681}" type="datetime1">
              <a:rPr lang="en-US" smtClean="0"/>
              <a:pPr/>
              <a:t>8/19/2023</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bwMode="auto">
          <a:xfrm>
            <a:off x="1325544" y="4928702"/>
            <a:ext cx="609600" cy="517524"/>
          </a:xfrm>
        </p:spPr>
        <p:txBody>
          <a:bodyPr/>
          <a:lstStyle/>
          <a:p>
            <a:fld id="{64FE01CD-3F2C-4288-9BAE-4826118C0AF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0EE335D7-BD61-4801-8D75-28E86A709D56}" type="datetime1">
              <a:rPr lang="en-US" smtClean="0"/>
              <a:pPr/>
              <a:t>8/19/2023</a:t>
            </a:fld>
            <a:endParaRPr lang="en-US"/>
          </a:p>
        </p:txBody>
      </p:sp>
      <p:sp>
        <p:nvSpPr>
          <p:cNvPr id="9" name="Slide Number Placeholder 8"/>
          <p:cNvSpPr>
            <a:spLocks noGrp="1"/>
          </p:cNvSpPr>
          <p:nvPr>
            <p:ph type="sldNum" sz="quarter" idx="15"/>
          </p:nvPr>
        </p:nvSpPr>
        <p:spPr/>
        <p:txBody>
          <a:bodyPr rtlCol="0"/>
          <a:lstStyle/>
          <a:p>
            <a:fld id="{64FE01CD-3F2C-4288-9BAE-4826118C0AF0}"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B99AD985-2E6C-4A4A-84C8-D6DDB90FCBBB}" type="datetime1">
              <a:rPr lang="en-US" smtClean="0"/>
              <a:pPr/>
              <a:t>8/19/2023</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64FE01CD-3F2C-4288-9BAE-4826118C0AF0}"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77C9BC35-EE70-4C41-A4A9-4CB53382BD58}" type="datetime1">
              <a:rPr lang="en-US" smtClean="0"/>
              <a:pPr/>
              <a:t>8/19/2023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FE01CD-3F2C-4288-9BAE-4826118C0AF0}"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6ADE280D-43D9-4847-ACA8-C232593BC917}" type="datetime1">
              <a:rPr lang="en-US" smtClean="0"/>
              <a:pPr/>
              <a:t>8/19/2023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FE01CD-3F2C-4288-9BAE-4826118C0AF0}"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7E3C417F-CED0-417E-A08C-A632368F770F}" type="datetime1">
              <a:rPr lang="en-US" smtClean="0"/>
              <a:pPr/>
              <a:t>8/19/2023</a:t>
            </a:fld>
            <a:endParaRPr lang="en-US"/>
          </a:p>
        </p:txBody>
      </p:sp>
      <p:sp>
        <p:nvSpPr>
          <p:cNvPr id="7" name="Slide Number Placeholder 6"/>
          <p:cNvSpPr>
            <a:spLocks noGrp="1"/>
          </p:cNvSpPr>
          <p:nvPr>
            <p:ph type="sldNum" sz="quarter" idx="11"/>
          </p:nvPr>
        </p:nvSpPr>
        <p:spPr/>
        <p:txBody>
          <a:bodyPr rtlCol="0"/>
          <a:lstStyle/>
          <a:p>
            <a:fld id="{64FE01CD-3F2C-4288-9BAE-4826118C0AF0}"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38554A-1623-497C-ADBD-C4739E286F02}" type="datetime1">
              <a:rPr lang="en-US" smtClean="0"/>
              <a:pPr/>
              <a:t>8/19/2023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FE01CD-3F2C-4288-9BAE-4826118C0AF0}"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60AD7905-FF8D-4904-A60D-75BAA684C536}" type="datetime1">
              <a:rPr lang="en-US" smtClean="0"/>
              <a:pPr/>
              <a:t>8/19/2023</a:t>
            </a:fld>
            <a:endParaRPr lang="en-US"/>
          </a:p>
        </p:txBody>
      </p:sp>
      <p:sp>
        <p:nvSpPr>
          <p:cNvPr id="22" name="Slide Number Placeholder 21"/>
          <p:cNvSpPr>
            <a:spLocks noGrp="1"/>
          </p:cNvSpPr>
          <p:nvPr>
            <p:ph type="sldNum" sz="quarter" idx="15"/>
          </p:nvPr>
        </p:nvSpPr>
        <p:spPr/>
        <p:txBody>
          <a:bodyPr rtlCol="0"/>
          <a:lstStyle/>
          <a:p>
            <a:fld id="{64FE01CD-3F2C-4288-9BAE-4826118C0AF0}"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Date Placeholder 16"/>
          <p:cNvSpPr>
            <a:spLocks noGrp="1"/>
          </p:cNvSpPr>
          <p:nvPr>
            <p:ph type="dt" sz="half" idx="10"/>
          </p:nvPr>
        </p:nvSpPr>
        <p:spPr/>
        <p:txBody>
          <a:bodyPr rtlCol="0"/>
          <a:lstStyle/>
          <a:p>
            <a:fld id="{F02FB136-CD93-4CF0-8082-CC37FEF5B066}" type="datetime1">
              <a:rPr lang="en-US" smtClean="0"/>
              <a:pPr/>
              <a:t>8/19/2023</a:t>
            </a:fld>
            <a:endParaRPr lang="en-US"/>
          </a:p>
        </p:txBody>
      </p:sp>
      <p:sp>
        <p:nvSpPr>
          <p:cNvPr id="18" name="Slide Number Placeholder 17"/>
          <p:cNvSpPr>
            <a:spLocks noGrp="1"/>
          </p:cNvSpPr>
          <p:nvPr>
            <p:ph type="sldNum" sz="quarter" idx="11"/>
          </p:nvPr>
        </p:nvSpPr>
        <p:spPr/>
        <p:txBody>
          <a:bodyPr rtlCol="0"/>
          <a:lstStyle/>
          <a:p>
            <a:fld id="{64FE01CD-3F2C-4288-9BAE-4826118C0AF0}"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305B377-E2C7-4FD1-86E3-FF4F85EE698C}" type="datetime1">
              <a:rPr lang="en-US" smtClean="0"/>
              <a:pPr/>
              <a:t>8/19/2023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FE01CD-3F2C-4288-9BAE-4826118C0AF0}"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498188-BD2F-44C0-A527-A8255251AFF5}" type="datetime1">
              <a:rPr lang="en-US" smtClean="0"/>
              <a:pPr/>
              <a:t>8/19/2023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FE01CD-3F2C-4288-9BAE-4826118C0AF0}"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57122B4D-4F6B-47D5-967A-AECAC5C95193}" type="datetime1">
              <a:rPr lang="en-US" smtClean="0"/>
              <a:pPr/>
              <a:t>8/19/2023</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64FE01CD-3F2C-4288-9BAE-4826118C0AF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ieeexplore.ieee.org/document/271947/"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hitepaper.io/document/602/solana-whitepaper" TargetMode="External"/><Relationship Id="rId2" Type="http://schemas.openxmlformats.org/officeDocument/2006/relationships/hyperlink" Target="https://whitepaper.io/document/718/ethereum-whitepape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2600" y="326174"/>
            <a:ext cx="6172200" cy="1331392"/>
          </a:xfrm>
        </p:spPr>
        <p:txBody>
          <a:bodyPr vert="horz" lIns="91440" tIns="45720" rIns="91440" bIns="45720" anchor="b">
            <a:normAutofit fontScale="90000"/>
          </a:bodyPr>
          <a:lstStyle/>
          <a:p>
            <a:pPr algn="ctr"/>
            <a:br>
              <a:rPr lang="en-US" sz="4000" dirty="0">
                <a:solidFill>
                  <a:schemeClr val="tx1"/>
                </a:solidFill>
              </a:rPr>
            </a:br>
            <a:r>
              <a:rPr lang="en-US" sz="4000" dirty="0">
                <a:solidFill>
                  <a:schemeClr val="tx1"/>
                </a:solidFill>
              </a:rPr>
              <a:t>Lightning </a:t>
            </a:r>
            <a:r>
              <a:rPr lang="en-US" sz="4000" dirty="0" err="1">
                <a:solidFill>
                  <a:schemeClr val="tx1"/>
                </a:solidFill>
              </a:rPr>
              <a:t>sidebridge</a:t>
            </a:r>
            <a:r>
              <a:rPr lang="en-US" sz="4000" dirty="0">
                <a:solidFill>
                  <a:schemeClr val="tx1"/>
                </a:solidFill>
              </a:rPr>
              <a:t> for web3</a:t>
            </a:r>
          </a:p>
        </p:txBody>
      </p:sp>
      <p:sp>
        <p:nvSpPr>
          <p:cNvPr id="4" name="Slide Number Placeholder 3"/>
          <p:cNvSpPr>
            <a:spLocks noGrp="1"/>
          </p:cNvSpPr>
          <p:nvPr>
            <p:ph type="sldNum" sz="quarter" idx="12"/>
          </p:nvPr>
        </p:nvSpPr>
        <p:spPr/>
        <p:txBody>
          <a:bodyPr/>
          <a:lstStyle/>
          <a:p>
            <a:fld id="{64FE01CD-3F2C-4288-9BAE-4826118C0AF0}" type="slidenum">
              <a:rPr lang="en-US" smtClean="0"/>
              <a:pPr/>
              <a:t>1</a:t>
            </a:fld>
            <a:endParaRPr lang="en-US"/>
          </a:p>
        </p:txBody>
      </p:sp>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7924800" y="228600"/>
            <a:ext cx="638175" cy="763270"/>
          </a:xfrm>
          <a:prstGeom prst="rect">
            <a:avLst/>
          </a:prstGeom>
          <a:noFill/>
        </p:spPr>
      </p:pic>
      <p:sp>
        <p:nvSpPr>
          <p:cNvPr id="8" name="TextBox 7"/>
          <p:cNvSpPr txBox="1"/>
          <p:nvPr/>
        </p:nvSpPr>
        <p:spPr>
          <a:xfrm>
            <a:off x="2971800" y="2971800"/>
            <a:ext cx="4038600" cy="1200329"/>
          </a:xfrm>
          <a:prstGeom prst="rect">
            <a:avLst/>
          </a:prstGeom>
          <a:noFill/>
        </p:spPr>
        <p:txBody>
          <a:bodyPr wrap="square" lIns="91440" tIns="45720" rIns="91440" bIns="45720" rtlCol="0" anchor="t">
            <a:spAutoFit/>
          </a:bodyPr>
          <a:lstStyle/>
          <a:p>
            <a:pPr marL="342900" indent="-342900">
              <a:buAutoNum type="arabicPeriod"/>
            </a:pPr>
            <a:r>
              <a:rPr lang="en-US" dirty="0"/>
              <a:t>Deep Mahajan </a:t>
            </a:r>
          </a:p>
          <a:p>
            <a:pPr marL="342900" indent="-342900">
              <a:buAutoNum type="arabicPeriod"/>
            </a:pPr>
            <a:r>
              <a:rPr lang="en-US" dirty="0"/>
              <a:t>Bhavesh </a:t>
            </a:r>
            <a:r>
              <a:rPr lang="en-US" dirty="0" err="1"/>
              <a:t>Nikam</a:t>
            </a:r>
            <a:endParaRPr lang="en-US" dirty="0"/>
          </a:p>
          <a:p>
            <a:r>
              <a:rPr lang="en-US" dirty="0"/>
              <a:t>3.  </a:t>
            </a:r>
            <a:r>
              <a:rPr lang="en-US" dirty="0" err="1"/>
              <a:t>Rushikesh</a:t>
            </a:r>
            <a:r>
              <a:rPr lang="en-US" dirty="0"/>
              <a:t> </a:t>
            </a:r>
            <a:r>
              <a:rPr lang="en-US" dirty="0" err="1"/>
              <a:t>Badgujar</a:t>
            </a:r>
            <a:r>
              <a:rPr lang="en-US" dirty="0"/>
              <a:t> </a:t>
            </a:r>
          </a:p>
          <a:p>
            <a:r>
              <a:rPr lang="en-US" dirty="0"/>
              <a:t>4.  Piyush Sharma</a:t>
            </a:r>
          </a:p>
        </p:txBody>
      </p:sp>
      <p:sp>
        <p:nvSpPr>
          <p:cNvPr id="9" name="TextBox 8"/>
          <p:cNvSpPr txBox="1"/>
          <p:nvPr/>
        </p:nvSpPr>
        <p:spPr>
          <a:xfrm>
            <a:off x="3810000" y="1814983"/>
            <a:ext cx="3200400" cy="869918"/>
          </a:xfrm>
          <a:prstGeom prst="rect">
            <a:avLst/>
          </a:prstGeom>
          <a:noFill/>
        </p:spPr>
        <p:txBody>
          <a:bodyPr wrap="square" rtlCol="0">
            <a:spAutoFit/>
          </a:bodyPr>
          <a:lstStyle/>
          <a:p>
            <a:pPr algn="ctr">
              <a:lnSpc>
                <a:spcPct val="150000"/>
              </a:lnSpc>
            </a:pPr>
            <a:r>
              <a:rPr lang="en-US" b="1"/>
              <a:t>Survey of Literature Presented By</a:t>
            </a:r>
          </a:p>
        </p:txBody>
      </p:sp>
      <p:sp>
        <p:nvSpPr>
          <p:cNvPr id="12" name="TextBox 11"/>
          <p:cNvSpPr txBox="1"/>
          <p:nvPr/>
        </p:nvSpPr>
        <p:spPr>
          <a:xfrm>
            <a:off x="-744718" y="4541133"/>
            <a:ext cx="9181707" cy="646331"/>
          </a:xfrm>
          <a:prstGeom prst="rect">
            <a:avLst/>
          </a:prstGeom>
          <a:noFill/>
        </p:spPr>
        <p:txBody>
          <a:bodyPr wrap="square" lIns="91440" tIns="45720" rIns="91440" bIns="45720" rtlCol="0" anchor="t">
            <a:spAutoFit/>
          </a:bodyPr>
          <a:lstStyle/>
          <a:p>
            <a:pPr algn="ctr"/>
            <a:r>
              <a:rPr lang="en-US" b="1" dirty="0"/>
              <a:t>Guided By</a:t>
            </a:r>
          </a:p>
          <a:p>
            <a:pPr algn="ctr"/>
            <a:r>
              <a:rPr lang="en-US" b="1" dirty="0"/>
              <a:t>Prof. Mayuri Kulkarni</a:t>
            </a:r>
          </a:p>
        </p:txBody>
      </p:sp>
      <p:sp>
        <p:nvSpPr>
          <p:cNvPr id="13" name="TextBox 12"/>
          <p:cNvSpPr txBox="1"/>
          <p:nvPr/>
        </p:nvSpPr>
        <p:spPr>
          <a:xfrm>
            <a:off x="2356015" y="5484491"/>
            <a:ext cx="5867400" cy="782971"/>
          </a:xfrm>
          <a:prstGeom prst="rect">
            <a:avLst/>
          </a:prstGeom>
          <a:noFill/>
        </p:spPr>
        <p:txBody>
          <a:bodyPr wrap="square" lIns="91440" tIns="45720" rIns="91440" bIns="45720" rtlCol="0" anchor="t">
            <a:spAutoFit/>
          </a:bodyPr>
          <a:lstStyle/>
          <a:p>
            <a:pPr algn="ctr">
              <a:lnSpc>
                <a:spcPct val="150000"/>
              </a:lnSpc>
            </a:pPr>
            <a:r>
              <a:rPr lang="en-US" sz="1600" b="1" i="1"/>
              <a:t>Department of Computer Engineering</a:t>
            </a:r>
          </a:p>
          <a:p>
            <a:pPr algn="ctr">
              <a:lnSpc>
                <a:spcPct val="150000"/>
              </a:lnSpc>
            </a:pPr>
            <a:r>
              <a:rPr lang="en-US" sz="1600" b="1" i="1"/>
              <a:t>B. Tech Computer Academic Year 2023-2024 Sem - VII</a:t>
            </a:r>
          </a:p>
        </p:txBody>
      </p:sp>
      <p:sp>
        <p:nvSpPr>
          <p:cNvPr id="6" name="TextBox 5">
            <a:extLst>
              <a:ext uri="{FF2B5EF4-FFF2-40B4-BE49-F238E27FC236}">
                <a16:creationId xmlns:a16="http://schemas.microsoft.com/office/drawing/2014/main" id="{81D93D4D-0EC3-DEEE-7377-AC814D176662}"/>
              </a:ext>
            </a:extLst>
          </p:cNvPr>
          <p:cNvSpPr txBox="1"/>
          <p:nvPr/>
        </p:nvSpPr>
        <p:spPr>
          <a:xfrm>
            <a:off x="4451808" y="4485423"/>
            <a:ext cx="4944358" cy="646331"/>
          </a:xfrm>
          <a:prstGeom prst="rect">
            <a:avLst/>
          </a:prstGeom>
          <a:noFill/>
        </p:spPr>
        <p:txBody>
          <a:bodyPr wrap="square">
            <a:spAutoFit/>
          </a:bodyPr>
          <a:lstStyle/>
          <a:p>
            <a:pPr algn="ctr"/>
            <a:r>
              <a:rPr lang="en-US" b="1" dirty="0"/>
              <a:t>Co-Guide</a:t>
            </a:r>
          </a:p>
          <a:p>
            <a:pPr algn="ctr"/>
            <a:r>
              <a:rPr lang="en-US" b="1" dirty="0"/>
              <a:t>Dr. Makarand </a:t>
            </a:r>
            <a:r>
              <a:rPr lang="en-US" b="1" dirty="0" err="1"/>
              <a:t>Shahade</a:t>
            </a:r>
            <a:endParaRPr lang="en-US" b="1"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chemeClr val="tx1"/>
                </a:solidFill>
              </a:rPr>
              <a:t>Outline</a:t>
            </a:r>
          </a:p>
        </p:txBody>
      </p:sp>
      <p:sp>
        <p:nvSpPr>
          <p:cNvPr id="3" name="Content Placeholder 2"/>
          <p:cNvSpPr>
            <a:spLocks noGrp="1"/>
          </p:cNvSpPr>
          <p:nvPr>
            <p:ph sz="quarter" idx="1"/>
          </p:nvPr>
        </p:nvSpPr>
        <p:spPr>
          <a:xfrm>
            <a:off x="457200" y="1442113"/>
            <a:ext cx="7924800" cy="4873752"/>
          </a:xfrm>
        </p:spPr>
        <p:txBody>
          <a:bodyPr/>
          <a:lstStyle/>
          <a:p>
            <a:pPr marL="0" indent="0">
              <a:buNone/>
            </a:pPr>
            <a:r>
              <a:rPr lang="en-US"/>
              <a:t>1.Introduction &amp; Motivation </a:t>
            </a:r>
          </a:p>
          <a:p>
            <a:pPr marL="0" indent="0">
              <a:buNone/>
            </a:pPr>
            <a:r>
              <a:rPr lang="en-US"/>
              <a:t>2.Literature Survey </a:t>
            </a:r>
          </a:p>
          <a:p>
            <a:pPr marL="0" indent="0">
              <a:buNone/>
            </a:pPr>
            <a:r>
              <a:rPr lang="en-US"/>
              <a:t>3.Limitation &amp; Future scope in Existing System </a:t>
            </a:r>
          </a:p>
          <a:p>
            <a:pPr marL="0" indent="0">
              <a:buNone/>
            </a:pPr>
            <a:r>
              <a:rPr lang="en-US"/>
              <a:t>4.Proposed System  </a:t>
            </a:r>
            <a:br>
              <a:rPr lang="en-US"/>
            </a:br>
            <a:r>
              <a:rPr lang="en-US"/>
              <a:t>5.Tools &amp; Technologies to be used </a:t>
            </a:r>
          </a:p>
          <a:p>
            <a:pPr marL="0" indent="0">
              <a:buNone/>
            </a:pPr>
            <a:r>
              <a:rPr lang="en-US"/>
              <a:t>6.Conclusion  </a:t>
            </a:r>
          </a:p>
          <a:p>
            <a:pPr marL="0" indent="0">
              <a:buNone/>
            </a:pPr>
            <a:r>
              <a:rPr lang="en-US"/>
              <a:t>7.References </a:t>
            </a:r>
          </a:p>
          <a:p>
            <a:pPr marL="0" indent="0">
              <a:buNone/>
            </a:pPr>
            <a:endParaRPr lang="en-US"/>
          </a:p>
        </p:txBody>
      </p:sp>
      <p:sp>
        <p:nvSpPr>
          <p:cNvPr id="5" name="Slide Number Placeholder 4"/>
          <p:cNvSpPr>
            <a:spLocks noGrp="1"/>
          </p:cNvSpPr>
          <p:nvPr>
            <p:ph type="sldNum" sz="quarter" idx="15"/>
          </p:nvPr>
        </p:nvSpPr>
        <p:spPr/>
        <p:txBody>
          <a:bodyPr/>
          <a:lstStyle/>
          <a:p>
            <a:fld id="{64FE01CD-3F2C-4288-9BAE-4826118C0AF0}" type="slidenum">
              <a:rPr lang="en-US" smtClean="0"/>
              <a:pPr/>
              <a:t>2</a:t>
            </a:fld>
            <a:endParaRPr lang="en-US"/>
          </a:p>
        </p:txBody>
      </p:sp>
      <p:sp>
        <p:nvSpPr>
          <p:cNvPr id="7" name="TextBox 6"/>
          <p:cNvSpPr txBox="1"/>
          <p:nvPr/>
        </p:nvSpPr>
        <p:spPr>
          <a:xfrm>
            <a:off x="304800" y="6477000"/>
            <a:ext cx="3124200" cy="230832"/>
          </a:xfrm>
          <a:prstGeom prst="rect">
            <a:avLst/>
          </a:prstGeom>
          <a:noFill/>
        </p:spPr>
        <p:txBody>
          <a:bodyPr wrap="square" rtlCol="0">
            <a:spAutoFit/>
          </a:bodyPr>
          <a:lstStyle/>
          <a:p>
            <a:r>
              <a:rPr lang="en-US" sz="900" err="1"/>
              <a:t>Dept</a:t>
            </a:r>
            <a:r>
              <a:rPr lang="en-US" sz="900"/>
              <a:t> of Computer </a:t>
            </a:r>
            <a:r>
              <a:rPr lang="en-US" sz="900" err="1"/>
              <a:t>Engg</a:t>
            </a:r>
            <a:r>
              <a:rPr lang="en-US" sz="900"/>
              <a:t>. SVKM IOT </a:t>
            </a:r>
            <a:r>
              <a:rPr lang="en-US" sz="900" err="1"/>
              <a:t>Dhule</a:t>
            </a:r>
            <a:endParaRPr lang="en-US" sz="90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7924800" y="228600"/>
            <a:ext cx="638175" cy="763270"/>
          </a:xfrm>
          <a:prstGeom prst="rect">
            <a:avLst/>
          </a:prstGeom>
          <a:noFill/>
        </p:spPr>
      </p:pic>
    </p:spTree>
    <p:extLst>
      <p:ext uri="{BB962C8B-B14F-4D97-AF65-F5344CB8AC3E}">
        <p14:creationId xmlns:p14="http://schemas.microsoft.com/office/powerpoint/2010/main" val="422624240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703"/>
            <a:ext cx="7467600" cy="1143000"/>
          </a:xfrm>
        </p:spPr>
        <p:txBody>
          <a:bodyPr/>
          <a:lstStyle/>
          <a:p>
            <a:r>
              <a:rPr lang="en-US" b="1" dirty="0">
                <a:solidFill>
                  <a:schemeClr val="tx1"/>
                </a:solidFill>
              </a:rPr>
              <a:t>Introduction &amp; Motivation </a:t>
            </a:r>
          </a:p>
        </p:txBody>
      </p:sp>
      <p:sp>
        <p:nvSpPr>
          <p:cNvPr id="3" name="Content Placeholder 2"/>
          <p:cNvSpPr>
            <a:spLocks noGrp="1"/>
          </p:cNvSpPr>
          <p:nvPr>
            <p:ph sz="quarter" idx="1"/>
          </p:nvPr>
        </p:nvSpPr>
        <p:spPr>
          <a:xfrm>
            <a:off x="405384" y="1196306"/>
            <a:ext cx="7924800" cy="4873752"/>
          </a:xfrm>
        </p:spPr>
        <p:txBody>
          <a:bodyPr/>
          <a:lstStyle/>
          <a:p>
            <a:pPr marL="0" indent="0" algn="just">
              <a:buNone/>
            </a:pPr>
            <a:r>
              <a:rPr lang="en-US" sz="2000" dirty="0"/>
              <a:t>The Lightning </a:t>
            </a:r>
            <a:r>
              <a:rPr lang="en-US" sz="2000" dirty="0" err="1"/>
              <a:t>sidebridge</a:t>
            </a:r>
            <a:r>
              <a:rPr lang="en-US" sz="2000" dirty="0"/>
              <a:t> for web3 is Project Based on </a:t>
            </a:r>
          </a:p>
          <a:p>
            <a:pPr marL="0" indent="0" algn="just">
              <a:buNone/>
            </a:pPr>
            <a:r>
              <a:rPr lang="en-US" sz="2000" dirty="0"/>
              <a:t>the core Infrastructure of Blockchain. Which eliminates  Centralized RPC Mechanism and improve web3 Services for Decentralized </a:t>
            </a:r>
            <a:r>
              <a:rPr lang="en-US" dirty="0"/>
              <a:t>apps.</a:t>
            </a:r>
          </a:p>
        </p:txBody>
      </p:sp>
      <p:sp>
        <p:nvSpPr>
          <p:cNvPr id="5" name="Slide Number Placeholder 4"/>
          <p:cNvSpPr>
            <a:spLocks noGrp="1"/>
          </p:cNvSpPr>
          <p:nvPr>
            <p:ph type="sldNum" sz="quarter" idx="15"/>
          </p:nvPr>
        </p:nvSpPr>
        <p:spPr/>
        <p:txBody>
          <a:bodyPr/>
          <a:lstStyle/>
          <a:p>
            <a:fld id="{64FE01CD-3F2C-4288-9BAE-4826118C0AF0}" type="slidenum">
              <a:rPr lang="en-US" smtClean="0"/>
              <a:pPr/>
              <a:t>3</a:t>
            </a:fld>
            <a:endParaRPr lang="en-US"/>
          </a:p>
        </p:txBody>
      </p:sp>
      <p:sp>
        <p:nvSpPr>
          <p:cNvPr id="7" name="TextBox 6"/>
          <p:cNvSpPr txBox="1"/>
          <p:nvPr/>
        </p:nvSpPr>
        <p:spPr>
          <a:xfrm>
            <a:off x="304800" y="6477000"/>
            <a:ext cx="3124200" cy="230832"/>
          </a:xfrm>
          <a:prstGeom prst="rect">
            <a:avLst/>
          </a:prstGeom>
          <a:noFill/>
        </p:spPr>
        <p:txBody>
          <a:bodyPr wrap="square" rtlCol="0">
            <a:spAutoFit/>
          </a:bodyPr>
          <a:lstStyle/>
          <a:p>
            <a:r>
              <a:rPr lang="en-US" sz="900" err="1"/>
              <a:t>Dept</a:t>
            </a:r>
            <a:r>
              <a:rPr lang="en-US" sz="900"/>
              <a:t> of Computer </a:t>
            </a:r>
            <a:r>
              <a:rPr lang="en-US" sz="900" err="1"/>
              <a:t>Engg</a:t>
            </a:r>
            <a:r>
              <a:rPr lang="en-US" sz="900"/>
              <a:t>. SVKM IOT </a:t>
            </a:r>
            <a:r>
              <a:rPr lang="en-US" sz="900" err="1"/>
              <a:t>Dhule</a:t>
            </a:r>
            <a:endParaRPr lang="en-US" sz="90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7924800" y="228600"/>
            <a:ext cx="638175" cy="763270"/>
          </a:xfrm>
          <a:prstGeom prst="rect">
            <a:avLst/>
          </a:prstGeom>
          <a:noFill/>
        </p:spPr>
      </p:pic>
      <p:pic>
        <p:nvPicPr>
          <p:cNvPr id="6" name="Picture 5">
            <a:extLst>
              <a:ext uri="{FF2B5EF4-FFF2-40B4-BE49-F238E27FC236}">
                <a16:creationId xmlns:a16="http://schemas.microsoft.com/office/drawing/2014/main" id="{F4914E0D-2FBE-52AB-070C-73950FE271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582443"/>
            <a:ext cx="6941412" cy="3672815"/>
          </a:xfrm>
          <a:prstGeom prst="rect">
            <a:avLst/>
          </a:prstGeom>
          <a:ln>
            <a:noFill/>
          </a:ln>
          <a:effectLst>
            <a:softEdge rad="112500"/>
          </a:effectLst>
        </p:spPr>
      </p:pic>
    </p:spTree>
    <p:extLst>
      <p:ext uri="{BB962C8B-B14F-4D97-AF65-F5344CB8AC3E}">
        <p14:creationId xmlns:p14="http://schemas.microsoft.com/office/powerpoint/2010/main" val="376369038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8720"/>
            <a:ext cx="7467600" cy="833176"/>
          </a:xfrm>
        </p:spPr>
        <p:txBody>
          <a:bodyPr/>
          <a:lstStyle/>
          <a:p>
            <a:r>
              <a:rPr lang="en-US" b="1" dirty="0">
                <a:solidFill>
                  <a:schemeClr val="tx1"/>
                </a:solidFill>
              </a:rPr>
              <a:t>Literature Survey </a:t>
            </a:r>
          </a:p>
        </p:txBody>
      </p:sp>
      <p:sp>
        <p:nvSpPr>
          <p:cNvPr id="5" name="Slide Number Placeholder 4"/>
          <p:cNvSpPr>
            <a:spLocks noGrp="1"/>
          </p:cNvSpPr>
          <p:nvPr>
            <p:ph type="sldNum" sz="quarter" idx="15"/>
          </p:nvPr>
        </p:nvSpPr>
        <p:spPr/>
        <p:txBody>
          <a:bodyPr/>
          <a:lstStyle/>
          <a:p>
            <a:fld id="{64FE01CD-3F2C-4288-9BAE-4826118C0AF0}" type="slidenum">
              <a:rPr lang="en-US" smtClean="0"/>
              <a:pPr/>
              <a:t>4</a:t>
            </a:fld>
            <a:endParaRPr lang="en-US"/>
          </a:p>
        </p:txBody>
      </p:sp>
      <p:sp>
        <p:nvSpPr>
          <p:cNvPr id="7" name="TextBox 6"/>
          <p:cNvSpPr txBox="1"/>
          <p:nvPr/>
        </p:nvSpPr>
        <p:spPr>
          <a:xfrm>
            <a:off x="304800" y="6477000"/>
            <a:ext cx="3124200" cy="230832"/>
          </a:xfrm>
          <a:prstGeom prst="rect">
            <a:avLst/>
          </a:prstGeom>
          <a:noFill/>
        </p:spPr>
        <p:txBody>
          <a:bodyPr wrap="square" rtlCol="0">
            <a:spAutoFit/>
          </a:bodyPr>
          <a:lstStyle/>
          <a:p>
            <a:r>
              <a:rPr lang="en-US" sz="900" err="1"/>
              <a:t>Dept</a:t>
            </a:r>
            <a:r>
              <a:rPr lang="en-US" sz="900"/>
              <a:t> of Computer </a:t>
            </a:r>
            <a:r>
              <a:rPr lang="en-US" sz="900" err="1"/>
              <a:t>Engg</a:t>
            </a:r>
            <a:r>
              <a:rPr lang="en-US" sz="900"/>
              <a:t>. SVKM IOT </a:t>
            </a:r>
            <a:r>
              <a:rPr lang="en-US" sz="900" err="1"/>
              <a:t>Dhule</a:t>
            </a:r>
            <a:endParaRPr lang="en-US" sz="90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7924800" y="228600"/>
            <a:ext cx="638175" cy="763270"/>
          </a:xfrm>
          <a:prstGeom prst="rect">
            <a:avLst/>
          </a:prstGeom>
          <a:noFill/>
        </p:spPr>
      </p:pic>
      <p:graphicFrame>
        <p:nvGraphicFramePr>
          <p:cNvPr id="13" name="Content Placeholder 12">
            <a:extLst>
              <a:ext uri="{FF2B5EF4-FFF2-40B4-BE49-F238E27FC236}">
                <a16:creationId xmlns:a16="http://schemas.microsoft.com/office/drawing/2014/main" id="{F59075EE-0625-48DC-05AA-4B38A2530189}"/>
              </a:ext>
            </a:extLst>
          </p:cNvPr>
          <p:cNvGraphicFramePr>
            <a:graphicFrameLocks noGrp="1"/>
          </p:cNvGraphicFramePr>
          <p:nvPr>
            <p:ph sz="quarter" idx="1"/>
            <p:extLst>
              <p:ext uri="{D42A27DB-BD31-4B8C-83A1-F6EECF244321}">
                <p14:modId xmlns:p14="http://schemas.microsoft.com/office/powerpoint/2010/main" val="2795666209"/>
              </p:ext>
            </p:extLst>
          </p:nvPr>
        </p:nvGraphicFramePr>
        <p:xfrm>
          <a:off x="405383" y="773402"/>
          <a:ext cx="7814790" cy="5736730"/>
        </p:xfrm>
        <a:graphic>
          <a:graphicData uri="http://schemas.openxmlformats.org/drawingml/2006/table">
            <a:tbl>
              <a:tblPr/>
              <a:tblGrid>
                <a:gridCol w="1302465">
                  <a:extLst>
                    <a:ext uri="{9D8B030D-6E8A-4147-A177-3AD203B41FA5}">
                      <a16:colId xmlns:a16="http://schemas.microsoft.com/office/drawing/2014/main" val="750887452"/>
                    </a:ext>
                  </a:extLst>
                </a:gridCol>
                <a:gridCol w="1302465">
                  <a:extLst>
                    <a:ext uri="{9D8B030D-6E8A-4147-A177-3AD203B41FA5}">
                      <a16:colId xmlns:a16="http://schemas.microsoft.com/office/drawing/2014/main" val="2708158564"/>
                    </a:ext>
                  </a:extLst>
                </a:gridCol>
                <a:gridCol w="1302465">
                  <a:extLst>
                    <a:ext uri="{9D8B030D-6E8A-4147-A177-3AD203B41FA5}">
                      <a16:colId xmlns:a16="http://schemas.microsoft.com/office/drawing/2014/main" val="1095380635"/>
                    </a:ext>
                  </a:extLst>
                </a:gridCol>
                <a:gridCol w="1302465">
                  <a:extLst>
                    <a:ext uri="{9D8B030D-6E8A-4147-A177-3AD203B41FA5}">
                      <a16:colId xmlns:a16="http://schemas.microsoft.com/office/drawing/2014/main" val="2545367256"/>
                    </a:ext>
                  </a:extLst>
                </a:gridCol>
                <a:gridCol w="1302465">
                  <a:extLst>
                    <a:ext uri="{9D8B030D-6E8A-4147-A177-3AD203B41FA5}">
                      <a16:colId xmlns:a16="http://schemas.microsoft.com/office/drawing/2014/main" val="2827727036"/>
                    </a:ext>
                  </a:extLst>
                </a:gridCol>
                <a:gridCol w="1302465">
                  <a:extLst>
                    <a:ext uri="{9D8B030D-6E8A-4147-A177-3AD203B41FA5}">
                      <a16:colId xmlns:a16="http://schemas.microsoft.com/office/drawing/2014/main" val="1693078102"/>
                    </a:ext>
                  </a:extLst>
                </a:gridCol>
              </a:tblGrid>
              <a:tr h="397110">
                <a:tc>
                  <a:txBody>
                    <a:bodyPr/>
                    <a:lstStyle/>
                    <a:p>
                      <a:pPr fontAlgn="b"/>
                      <a:r>
                        <a:rPr lang="en-IN" sz="1200" b="1">
                          <a:effectLst/>
                        </a:rPr>
                        <a:t>No.</a:t>
                      </a:r>
                    </a:p>
                  </a:txBody>
                  <a:tcPr marL="18050" marR="18050" marT="9025" marB="9025" anchor="b">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762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
                      <a:r>
                        <a:rPr lang="en-IN" sz="1200" b="1">
                          <a:effectLst/>
                        </a:rPr>
                        <a:t>Paper Name</a:t>
                      </a:r>
                    </a:p>
                  </a:txBody>
                  <a:tcPr marL="18050" marR="18050" marT="9025" marB="9025" anchor="b">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762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
                      <a:r>
                        <a:rPr lang="en-IN" sz="1200" b="1">
                          <a:effectLst/>
                        </a:rPr>
                        <a:t>Author Name</a:t>
                      </a:r>
                    </a:p>
                  </a:txBody>
                  <a:tcPr marL="18050" marR="18050" marT="9025" marB="9025" anchor="b">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762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
                      <a:r>
                        <a:rPr lang="en-IN" sz="1200" b="1">
                          <a:effectLst/>
                        </a:rPr>
                        <a:t>Technology Used</a:t>
                      </a:r>
                    </a:p>
                  </a:txBody>
                  <a:tcPr marL="18050" marR="18050" marT="9025" marB="9025" anchor="b">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762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
                      <a:r>
                        <a:rPr lang="en-IN" sz="1200" b="1">
                          <a:effectLst/>
                        </a:rPr>
                        <a:t>Short Description</a:t>
                      </a:r>
                    </a:p>
                  </a:txBody>
                  <a:tcPr marL="18050" marR="18050" marT="9025" marB="9025" anchor="b">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762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
                      <a:r>
                        <a:rPr lang="en-IN" sz="1200" b="1">
                          <a:effectLst/>
                        </a:rPr>
                        <a:t>Limitations and Challenges</a:t>
                      </a:r>
                    </a:p>
                  </a:txBody>
                  <a:tcPr marL="18050" marR="18050" marT="9025" marB="9025" anchor="b">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762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1400355238"/>
                  </a:ext>
                </a:extLst>
              </a:tr>
              <a:tr h="2454863">
                <a:tc>
                  <a:txBody>
                    <a:bodyPr/>
                    <a:lstStyle/>
                    <a:p>
                      <a:pPr fontAlgn="base"/>
                      <a:r>
                        <a:rPr lang="en-IN" sz="1200" dirty="0">
                          <a:effectLst/>
                        </a:rPr>
                        <a:t>1</a:t>
                      </a:r>
                    </a:p>
                  </a:txBody>
                  <a:tcPr marL="18050" marR="18050" marT="9025" marB="902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dirty="0">
                          <a:effectLst/>
                        </a:rPr>
                        <a:t>A </a:t>
                      </a:r>
                      <a:r>
                        <a:rPr lang="en-US" sz="1200" dirty="0" err="1">
                          <a:effectLst/>
                        </a:rPr>
                        <a:t>Decentralised</a:t>
                      </a:r>
                      <a:r>
                        <a:rPr lang="en-US" sz="1200" dirty="0">
                          <a:effectLst/>
                        </a:rPr>
                        <a:t> Remote Procedure Call Transaction Manager</a:t>
                      </a:r>
                    </a:p>
                  </a:txBody>
                  <a:tcPr marL="18050" marR="18050" marT="9025" marB="902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IN" sz="1200">
                          <a:effectLst/>
                        </a:rPr>
                        <a:t>Wanlei Zhou (1992)</a:t>
                      </a:r>
                    </a:p>
                  </a:txBody>
                  <a:tcPr marL="18050" marR="18050" marT="9025" marB="902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Decentralized systems, Remote Procedure Call</a:t>
                      </a:r>
                    </a:p>
                  </a:txBody>
                  <a:tcPr marL="18050" marR="18050" marT="9025" marB="902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The paper proposes a decentralized approach for managing remote procedure call transactions. It focuses on handling distributed transactions efficiently and ensuring reliable communication between different nodes.</a:t>
                      </a:r>
                    </a:p>
                  </a:txBody>
                  <a:tcPr marL="18050" marR="18050" marT="9025" marB="902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Limitations might include scalability issues in very large networks, potential security vulnerabilities in the decentralized communication model.</a:t>
                      </a:r>
                    </a:p>
                  </a:txBody>
                  <a:tcPr marL="18050" marR="18050" marT="9025" marB="902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757633110"/>
                  </a:ext>
                </a:extLst>
              </a:tr>
              <a:tr h="2021652">
                <a:tc>
                  <a:txBody>
                    <a:bodyPr/>
                    <a:lstStyle/>
                    <a:p>
                      <a:pPr fontAlgn="base"/>
                      <a:r>
                        <a:rPr lang="en-IN" sz="1200">
                          <a:effectLst/>
                        </a:rPr>
                        <a:t>2</a:t>
                      </a:r>
                    </a:p>
                  </a:txBody>
                  <a:tcPr marL="18050" marR="18050" marT="9025" marB="902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DC-PoET: Proof-of-Elapsed-Time Consensus with Distributed Coordination for Blockchain Networks</a:t>
                      </a:r>
                    </a:p>
                  </a:txBody>
                  <a:tcPr marL="18050" marR="18050" marT="9025" marB="902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IN" sz="1200">
                          <a:effectLst/>
                        </a:rPr>
                        <a:t>Amitangshu Pal and Krishna Kant (2021)</a:t>
                      </a:r>
                    </a:p>
                  </a:txBody>
                  <a:tcPr marL="18050" marR="18050" marT="9025" marB="902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IN" sz="1200">
                          <a:effectLst/>
                        </a:rPr>
                        <a:t>Blockchain, Proof-of-Elapsed-Time (PoET)</a:t>
                      </a:r>
                    </a:p>
                  </a:txBody>
                  <a:tcPr marL="18050" marR="18050" marT="9025" marB="902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The paper introduces a consensus mechanism called DC-PoET, which utilizes distributed coordination to enhance the Proof-of-Elapsed-Time consensus in blockchain networks.</a:t>
                      </a:r>
                    </a:p>
                  </a:txBody>
                  <a:tcPr marL="18050" marR="18050" marT="9025" marB="902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dirty="0">
                          <a:effectLst/>
                        </a:rPr>
                        <a:t>Challenges could involve optimizing the coordination process to minimize resource consumption and potential trade-offs between security and efficiency.</a:t>
                      </a:r>
                    </a:p>
                  </a:txBody>
                  <a:tcPr marL="18050" marR="18050" marT="9025" marB="902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3058611549"/>
                  </a:ext>
                </a:extLst>
              </a:tr>
            </a:tbl>
          </a:graphicData>
        </a:graphic>
      </p:graphicFrame>
    </p:spTree>
    <p:extLst>
      <p:ext uri="{BB962C8B-B14F-4D97-AF65-F5344CB8AC3E}">
        <p14:creationId xmlns:p14="http://schemas.microsoft.com/office/powerpoint/2010/main" val="178801330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1BB1A1-5AA8-9F42-CC62-744827EB2C5B}"/>
              </a:ext>
            </a:extLst>
          </p:cNvPr>
          <p:cNvSpPr>
            <a:spLocks noGrp="1"/>
          </p:cNvSpPr>
          <p:nvPr>
            <p:ph type="sldNum" sz="quarter" idx="15"/>
          </p:nvPr>
        </p:nvSpPr>
        <p:spPr/>
        <p:txBody>
          <a:bodyPr/>
          <a:lstStyle/>
          <a:p>
            <a:fld id="{64FE01CD-3F2C-4288-9BAE-4826118C0AF0}" type="slidenum">
              <a:rPr lang="en-US" smtClean="0"/>
              <a:pPr/>
              <a:t>5</a:t>
            </a:fld>
            <a:endParaRPr lang="en-US"/>
          </a:p>
        </p:txBody>
      </p:sp>
      <p:graphicFrame>
        <p:nvGraphicFramePr>
          <p:cNvPr id="6" name="Table 5">
            <a:extLst>
              <a:ext uri="{FF2B5EF4-FFF2-40B4-BE49-F238E27FC236}">
                <a16:creationId xmlns:a16="http://schemas.microsoft.com/office/drawing/2014/main" id="{E9FCFBB1-4D9E-6714-12A1-CA38825352D1}"/>
              </a:ext>
            </a:extLst>
          </p:cNvPr>
          <p:cNvGraphicFramePr>
            <a:graphicFrameLocks noGrp="1"/>
          </p:cNvGraphicFramePr>
          <p:nvPr>
            <p:extLst>
              <p:ext uri="{D42A27DB-BD31-4B8C-83A1-F6EECF244321}">
                <p14:modId xmlns:p14="http://schemas.microsoft.com/office/powerpoint/2010/main" val="3939069344"/>
              </p:ext>
            </p:extLst>
          </p:nvPr>
        </p:nvGraphicFramePr>
        <p:xfrm>
          <a:off x="405384" y="188536"/>
          <a:ext cx="7723632" cy="6303610"/>
        </p:xfrm>
        <a:graphic>
          <a:graphicData uri="http://schemas.openxmlformats.org/drawingml/2006/table">
            <a:tbl>
              <a:tblPr/>
              <a:tblGrid>
                <a:gridCol w="1287272">
                  <a:extLst>
                    <a:ext uri="{9D8B030D-6E8A-4147-A177-3AD203B41FA5}">
                      <a16:colId xmlns:a16="http://schemas.microsoft.com/office/drawing/2014/main" val="2089006691"/>
                    </a:ext>
                  </a:extLst>
                </a:gridCol>
                <a:gridCol w="1287272">
                  <a:extLst>
                    <a:ext uri="{9D8B030D-6E8A-4147-A177-3AD203B41FA5}">
                      <a16:colId xmlns:a16="http://schemas.microsoft.com/office/drawing/2014/main" val="2601529002"/>
                    </a:ext>
                  </a:extLst>
                </a:gridCol>
                <a:gridCol w="1287272">
                  <a:extLst>
                    <a:ext uri="{9D8B030D-6E8A-4147-A177-3AD203B41FA5}">
                      <a16:colId xmlns:a16="http://schemas.microsoft.com/office/drawing/2014/main" val="1166436028"/>
                    </a:ext>
                  </a:extLst>
                </a:gridCol>
                <a:gridCol w="1287272">
                  <a:extLst>
                    <a:ext uri="{9D8B030D-6E8A-4147-A177-3AD203B41FA5}">
                      <a16:colId xmlns:a16="http://schemas.microsoft.com/office/drawing/2014/main" val="3682569681"/>
                    </a:ext>
                  </a:extLst>
                </a:gridCol>
                <a:gridCol w="1287272">
                  <a:extLst>
                    <a:ext uri="{9D8B030D-6E8A-4147-A177-3AD203B41FA5}">
                      <a16:colId xmlns:a16="http://schemas.microsoft.com/office/drawing/2014/main" val="3855617649"/>
                    </a:ext>
                  </a:extLst>
                </a:gridCol>
                <a:gridCol w="1287272">
                  <a:extLst>
                    <a:ext uri="{9D8B030D-6E8A-4147-A177-3AD203B41FA5}">
                      <a16:colId xmlns:a16="http://schemas.microsoft.com/office/drawing/2014/main" val="2720180008"/>
                    </a:ext>
                  </a:extLst>
                </a:gridCol>
              </a:tblGrid>
              <a:tr h="3176928">
                <a:tc>
                  <a:txBody>
                    <a:bodyPr/>
                    <a:lstStyle/>
                    <a:p>
                      <a:pPr fontAlgn="base"/>
                      <a:r>
                        <a:rPr lang="en-IN" sz="1200">
                          <a:effectLst/>
                        </a:rPr>
                        <a:t>3</a:t>
                      </a:r>
                    </a:p>
                  </a:txBody>
                  <a:tcPr marL="17722" marR="17722" marT="8861" marB="8861"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Feature Extraction of Network Traffic in Ethereum Blockchain Network Layer for Eclipse Attack Detection</a:t>
                      </a:r>
                    </a:p>
                  </a:txBody>
                  <a:tcPr marL="17722" marR="17722" marT="8861" marB="8861"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IN" sz="1200">
                          <a:effectLst/>
                        </a:rPr>
                        <a:t>Dhanasak Bhumichai and Ryan Benton (2023)</a:t>
                      </a:r>
                    </a:p>
                  </a:txBody>
                  <a:tcPr marL="17722" marR="17722" marT="8861" marB="8861"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IN" sz="1200">
                          <a:effectLst/>
                        </a:rPr>
                        <a:t>Ethereum, Network Traffic Analysis</a:t>
                      </a:r>
                    </a:p>
                  </a:txBody>
                  <a:tcPr marL="17722" marR="17722" marT="8861" marB="8861"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The paper focuses on detecting Eclipse attacks in the Ethereum blockchain network by extracting features from network traffic data. It aims to enhance the security of the network against this specific type of attack.</a:t>
                      </a:r>
                    </a:p>
                  </a:txBody>
                  <a:tcPr marL="17722" marR="17722" marT="8861" marB="8861"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Challenges may include accurately distinguishing legitimate network behavior from attack patterns and adapting the detection mechanism to evolving attack strategies.</a:t>
                      </a:r>
                    </a:p>
                  </a:txBody>
                  <a:tcPr marL="17722" marR="17722" marT="8861" marB="8861"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603579029"/>
                  </a:ext>
                </a:extLst>
              </a:tr>
              <a:tr h="3108362">
                <a:tc>
                  <a:txBody>
                    <a:bodyPr/>
                    <a:lstStyle/>
                    <a:p>
                      <a:pPr fontAlgn="base"/>
                      <a:r>
                        <a:rPr lang="en-IN" sz="1200">
                          <a:effectLst/>
                        </a:rPr>
                        <a:t>4</a:t>
                      </a:r>
                    </a:p>
                  </a:txBody>
                  <a:tcPr marL="17722" marR="17722" marT="8861" marB="8861"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Ethereum: A Next-Generation Smart Contract and Decentralized Application Platform</a:t>
                      </a:r>
                    </a:p>
                  </a:txBody>
                  <a:tcPr marL="17722" marR="17722" marT="8861" marB="8861"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Whitepaper by Ethereum Team (Updated 2023)</a:t>
                      </a:r>
                    </a:p>
                  </a:txBody>
                  <a:tcPr marL="17722" marR="17722" marT="8861" marB="8861"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Ethereum, Smart Contracts, Decentralized Applications</a:t>
                      </a:r>
                    </a:p>
                  </a:txBody>
                  <a:tcPr marL="17722" marR="17722" marT="8861" marB="8861"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The Ethereum whitepaper outlines the design and capabilities of the Ethereum platform, which enables the creation of smart contracts and decentralized applications. It introduces the concept of the Ethereum Virtual Machine (EVM).</a:t>
                      </a:r>
                    </a:p>
                  </a:txBody>
                  <a:tcPr marL="17722" marR="17722" marT="8861" marB="8861"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dirty="0">
                          <a:effectLst/>
                        </a:rPr>
                        <a:t>Limitations can involve scalability concerns due to network congestion and high gas fees, as well as the challenge of maintaining security and preventing vulnerabilities in smart contracts.</a:t>
                      </a:r>
                    </a:p>
                  </a:txBody>
                  <a:tcPr marL="17722" marR="17722" marT="8861" marB="8861"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587702078"/>
                  </a:ext>
                </a:extLst>
              </a:tr>
            </a:tbl>
          </a:graphicData>
        </a:graphic>
      </p:graphicFrame>
    </p:spTree>
    <p:extLst>
      <p:ext uri="{BB962C8B-B14F-4D97-AF65-F5344CB8AC3E}">
        <p14:creationId xmlns:p14="http://schemas.microsoft.com/office/powerpoint/2010/main" val="396089109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B6985A-E203-6D61-7C0F-6FC248FDBD8E}"/>
              </a:ext>
            </a:extLst>
          </p:cNvPr>
          <p:cNvSpPr>
            <a:spLocks noGrp="1"/>
          </p:cNvSpPr>
          <p:nvPr>
            <p:ph type="sldNum" sz="quarter" idx="15"/>
          </p:nvPr>
        </p:nvSpPr>
        <p:spPr/>
        <p:txBody>
          <a:bodyPr/>
          <a:lstStyle/>
          <a:p>
            <a:fld id="{64FE01CD-3F2C-4288-9BAE-4826118C0AF0}" type="slidenum">
              <a:rPr lang="en-US" smtClean="0"/>
              <a:pPr/>
              <a:t>6</a:t>
            </a:fld>
            <a:endParaRPr lang="en-US"/>
          </a:p>
        </p:txBody>
      </p:sp>
      <p:graphicFrame>
        <p:nvGraphicFramePr>
          <p:cNvPr id="9" name="Table 8">
            <a:extLst>
              <a:ext uri="{FF2B5EF4-FFF2-40B4-BE49-F238E27FC236}">
                <a16:creationId xmlns:a16="http://schemas.microsoft.com/office/drawing/2014/main" id="{7B108997-1AA7-3AFE-5149-A5C487F8693C}"/>
              </a:ext>
            </a:extLst>
          </p:cNvPr>
          <p:cNvGraphicFramePr>
            <a:graphicFrameLocks noGrp="1"/>
          </p:cNvGraphicFramePr>
          <p:nvPr>
            <p:extLst>
              <p:ext uri="{D42A27DB-BD31-4B8C-83A1-F6EECF244321}">
                <p14:modId xmlns:p14="http://schemas.microsoft.com/office/powerpoint/2010/main" val="619327896"/>
              </p:ext>
            </p:extLst>
          </p:nvPr>
        </p:nvGraphicFramePr>
        <p:xfrm>
          <a:off x="546754" y="443060"/>
          <a:ext cx="7494312" cy="6072100"/>
        </p:xfrm>
        <a:graphic>
          <a:graphicData uri="http://schemas.openxmlformats.org/drawingml/2006/table">
            <a:tbl>
              <a:tblPr/>
              <a:tblGrid>
                <a:gridCol w="1249052">
                  <a:extLst>
                    <a:ext uri="{9D8B030D-6E8A-4147-A177-3AD203B41FA5}">
                      <a16:colId xmlns:a16="http://schemas.microsoft.com/office/drawing/2014/main" val="2286958242"/>
                    </a:ext>
                  </a:extLst>
                </a:gridCol>
                <a:gridCol w="1249052">
                  <a:extLst>
                    <a:ext uri="{9D8B030D-6E8A-4147-A177-3AD203B41FA5}">
                      <a16:colId xmlns:a16="http://schemas.microsoft.com/office/drawing/2014/main" val="2742264155"/>
                    </a:ext>
                  </a:extLst>
                </a:gridCol>
                <a:gridCol w="1249052">
                  <a:extLst>
                    <a:ext uri="{9D8B030D-6E8A-4147-A177-3AD203B41FA5}">
                      <a16:colId xmlns:a16="http://schemas.microsoft.com/office/drawing/2014/main" val="2264478817"/>
                    </a:ext>
                  </a:extLst>
                </a:gridCol>
                <a:gridCol w="1249052">
                  <a:extLst>
                    <a:ext uri="{9D8B030D-6E8A-4147-A177-3AD203B41FA5}">
                      <a16:colId xmlns:a16="http://schemas.microsoft.com/office/drawing/2014/main" val="1041363594"/>
                    </a:ext>
                  </a:extLst>
                </a:gridCol>
                <a:gridCol w="1249052">
                  <a:extLst>
                    <a:ext uri="{9D8B030D-6E8A-4147-A177-3AD203B41FA5}">
                      <a16:colId xmlns:a16="http://schemas.microsoft.com/office/drawing/2014/main" val="3009803721"/>
                    </a:ext>
                  </a:extLst>
                </a:gridCol>
                <a:gridCol w="1249052">
                  <a:extLst>
                    <a:ext uri="{9D8B030D-6E8A-4147-A177-3AD203B41FA5}">
                      <a16:colId xmlns:a16="http://schemas.microsoft.com/office/drawing/2014/main" val="942614385"/>
                    </a:ext>
                  </a:extLst>
                </a:gridCol>
              </a:tblGrid>
              <a:tr h="3124680">
                <a:tc>
                  <a:txBody>
                    <a:bodyPr/>
                    <a:lstStyle/>
                    <a:p>
                      <a:pPr fontAlgn="base"/>
                      <a:r>
                        <a:rPr lang="en-IN" sz="1200">
                          <a:effectLst/>
                        </a:rPr>
                        <a:t>4</a:t>
                      </a:r>
                    </a:p>
                  </a:txBody>
                  <a:tcPr marL="18531" marR="18531" marT="9265" marB="926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Ethereum: A Next-Generation Smart Contract and Decentralized Application Platform</a:t>
                      </a:r>
                    </a:p>
                  </a:txBody>
                  <a:tcPr marL="18531" marR="18531" marT="9265" marB="926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Whitepaper by Ethereum Team (Updated 2023)</a:t>
                      </a:r>
                    </a:p>
                  </a:txBody>
                  <a:tcPr marL="18531" marR="18531" marT="9265" marB="926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Ethereum, Smart Contracts, Decentralized Applications</a:t>
                      </a:r>
                    </a:p>
                  </a:txBody>
                  <a:tcPr marL="18531" marR="18531" marT="9265" marB="926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The Ethereum whitepaper outlines the design and capabilities of the Ethereum platform, which enables the creation of smart contracts and decentralized applications. It introduces the concept of the Ethereum Virtual Machine (EVM).</a:t>
                      </a:r>
                    </a:p>
                  </a:txBody>
                  <a:tcPr marL="18531" marR="18531" marT="9265" marB="926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Limitations can involve scalability concerns due to network congestion and high gas fees, as well as the challenge of maintaining security and preventing vulnerabilities in smart contracts.</a:t>
                      </a:r>
                    </a:p>
                  </a:txBody>
                  <a:tcPr marL="18531" marR="18531" marT="9265" marB="926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3853003486"/>
                  </a:ext>
                </a:extLst>
              </a:tr>
              <a:tr h="2917901">
                <a:tc>
                  <a:txBody>
                    <a:bodyPr/>
                    <a:lstStyle/>
                    <a:p>
                      <a:pPr fontAlgn="base"/>
                      <a:r>
                        <a:rPr lang="en-IN" sz="1200">
                          <a:effectLst/>
                        </a:rPr>
                        <a:t>5</a:t>
                      </a:r>
                    </a:p>
                  </a:txBody>
                  <a:tcPr marL="18531" marR="18531" marT="9265" marB="926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Solana: A new architecture for a high performance blockchain v0.8.13</a:t>
                      </a:r>
                    </a:p>
                  </a:txBody>
                  <a:tcPr marL="18531" marR="18531" marT="9265" marB="926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IN" sz="1200">
                          <a:effectLst/>
                        </a:rPr>
                        <a:t>Solana Team (Updated 2022)</a:t>
                      </a:r>
                    </a:p>
                  </a:txBody>
                  <a:tcPr marL="18531" marR="18531" marT="9265" marB="926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IN" sz="1200">
                          <a:effectLst/>
                        </a:rPr>
                        <a:t>Solana Blockchain Architecture</a:t>
                      </a:r>
                    </a:p>
                  </a:txBody>
                  <a:tcPr marL="18531" marR="18531" marT="9265" marB="926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a:effectLst/>
                        </a:rPr>
                        <a:t>The paper presents the Solana blockchain's architecture, emphasizing its high performance and scalability features. It introduces concepts like Proof-of-History and Tower BFT consensus.</a:t>
                      </a:r>
                    </a:p>
                  </a:txBody>
                  <a:tcPr marL="18531" marR="18531" marT="9265" marB="926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200" dirty="0">
                          <a:effectLst/>
                        </a:rPr>
                        <a:t>Challenges include validating the performance claims under various network conditions, ensuring decentralization as the network scales, and addressing any potential vulnerabilities in the novel architecture.</a:t>
                      </a:r>
                    </a:p>
                  </a:txBody>
                  <a:tcPr marL="18531" marR="18531" marT="9265" marB="9265"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3087870525"/>
                  </a:ext>
                </a:extLst>
              </a:tr>
            </a:tbl>
          </a:graphicData>
        </a:graphic>
      </p:graphicFrame>
    </p:spTree>
    <p:extLst>
      <p:ext uri="{BB962C8B-B14F-4D97-AF65-F5344CB8AC3E}">
        <p14:creationId xmlns:p14="http://schemas.microsoft.com/office/powerpoint/2010/main" val="195647986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Limitation and future scope in Existing System</a:t>
            </a:r>
          </a:p>
        </p:txBody>
      </p:sp>
      <p:sp>
        <p:nvSpPr>
          <p:cNvPr id="3" name="Content Placeholder 2"/>
          <p:cNvSpPr>
            <a:spLocks noGrp="1"/>
          </p:cNvSpPr>
          <p:nvPr>
            <p:ph sz="quarter" idx="1"/>
          </p:nvPr>
        </p:nvSpPr>
        <p:spPr>
          <a:xfrm>
            <a:off x="457200" y="1442113"/>
            <a:ext cx="7924800" cy="4873752"/>
          </a:xfrm>
        </p:spPr>
        <p:txBody>
          <a:bodyPr vert="horz" lIns="91440" tIns="45720" rIns="91440" bIns="45720" anchor="t">
            <a:normAutofit fontScale="70000" lnSpcReduction="20000"/>
          </a:bodyPr>
          <a:lstStyle/>
          <a:p>
            <a:pPr algn="just">
              <a:buFont typeface="+mj-lt"/>
              <a:buAutoNum type="arabicPeriod"/>
            </a:pPr>
            <a:r>
              <a:rPr lang="en-US" b="1" i="0" dirty="0">
                <a:solidFill>
                  <a:srgbClr val="374151"/>
                </a:solidFill>
                <a:effectLst/>
                <a:latin typeface="Söhne"/>
              </a:rPr>
              <a:t>A </a:t>
            </a:r>
            <a:r>
              <a:rPr lang="en-US" b="1" i="0" dirty="0" err="1">
                <a:solidFill>
                  <a:srgbClr val="374151"/>
                </a:solidFill>
                <a:effectLst/>
                <a:latin typeface="Söhne"/>
              </a:rPr>
              <a:t>Decentralised</a:t>
            </a:r>
            <a:r>
              <a:rPr lang="en-US" b="1" i="0" dirty="0">
                <a:solidFill>
                  <a:srgbClr val="374151"/>
                </a:solidFill>
                <a:effectLst/>
                <a:latin typeface="Söhne"/>
              </a:rPr>
              <a:t> Remote Procedure Call Transaction Manager</a:t>
            </a:r>
            <a:endParaRPr lang="en-US" b="0" i="0" dirty="0">
              <a:solidFill>
                <a:srgbClr val="374151"/>
              </a:solidFill>
              <a:effectLst/>
              <a:latin typeface="Söhne"/>
            </a:endParaRPr>
          </a:p>
          <a:p>
            <a:pPr marL="742950" lvl="1" indent="-285750" algn="just">
              <a:buFont typeface="+mj-lt"/>
              <a:buAutoNum type="arabicPeriod"/>
            </a:pPr>
            <a:r>
              <a:rPr lang="en-US" b="1" i="0" dirty="0">
                <a:solidFill>
                  <a:srgbClr val="374151"/>
                </a:solidFill>
                <a:effectLst/>
                <a:latin typeface="Söhne"/>
              </a:rPr>
              <a:t>Limitations:</a:t>
            </a:r>
            <a:endParaRPr lang="en-US" b="0" i="0" dirty="0">
              <a:solidFill>
                <a:srgbClr val="374151"/>
              </a:solidFill>
              <a:effectLst/>
              <a:latin typeface="Söhne"/>
            </a:endParaRPr>
          </a:p>
          <a:p>
            <a:pPr marL="1143000" lvl="2" indent="-228600" algn="just">
              <a:buFont typeface="+mj-lt"/>
              <a:buAutoNum type="arabicPeriod"/>
            </a:pPr>
            <a:r>
              <a:rPr lang="en-US" b="0" i="0" dirty="0">
                <a:solidFill>
                  <a:srgbClr val="374151"/>
                </a:solidFill>
                <a:effectLst/>
                <a:latin typeface="Söhne"/>
              </a:rPr>
              <a:t>Scalability might be a challenge when dealing with a large number of nodes and transactions in the decentralized network.</a:t>
            </a:r>
          </a:p>
          <a:p>
            <a:pPr marL="1143000" lvl="2" indent="-228600" algn="just">
              <a:buFont typeface="+mj-lt"/>
              <a:buAutoNum type="arabicPeriod"/>
            </a:pPr>
            <a:r>
              <a:rPr lang="en-US" b="0" i="0" dirty="0">
                <a:solidFill>
                  <a:srgbClr val="374151"/>
                </a:solidFill>
                <a:effectLst/>
                <a:latin typeface="Söhne"/>
              </a:rPr>
              <a:t>Ensuring security and preventing malicious activities within a decentralized communication model can be complex.</a:t>
            </a:r>
          </a:p>
          <a:p>
            <a:pPr marL="742950" lvl="1" indent="-285750" algn="just">
              <a:buFont typeface="+mj-lt"/>
              <a:buAutoNum type="arabicPeriod"/>
            </a:pPr>
            <a:r>
              <a:rPr lang="en-US" b="1" i="0" dirty="0">
                <a:solidFill>
                  <a:srgbClr val="374151"/>
                </a:solidFill>
                <a:effectLst/>
                <a:latin typeface="Söhne"/>
              </a:rPr>
              <a:t>Future Scope:</a:t>
            </a:r>
            <a:endParaRPr lang="en-US" b="0" i="0" dirty="0">
              <a:solidFill>
                <a:srgbClr val="374151"/>
              </a:solidFill>
              <a:effectLst/>
              <a:latin typeface="Söhne"/>
            </a:endParaRPr>
          </a:p>
          <a:p>
            <a:pPr marL="1143000" lvl="2" indent="-228600" algn="just">
              <a:buFont typeface="+mj-lt"/>
              <a:buAutoNum type="arabicPeriod"/>
            </a:pPr>
            <a:r>
              <a:rPr lang="en-US" b="0" i="0" dirty="0">
                <a:solidFill>
                  <a:srgbClr val="374151"/>
                </a:solidFill>
                <a:effectLst/>
                <a:latin typeface="Söhne"/>
              </a:rPr>
              <a:t>Research and development in optimizing the protocol for handling larger networks and higher transaction volumes.</a:t>
            </a:r>
          </a:p>
          <a:p>
            <a:pPr marL="1143000" lvl="2" indent="-228600" algn="just">
              <a:buFont typeface="+mj-lt"/>
              <a:buAutoNum type="arabicPeriod"/>
            </a:pPr>
            <a:r>
              <a:rPr lang="en-US" b="0" i="0" dirty="0">
                <a:solidFill>
                  <a:srgbClr val="374151"/>
                </a:solidFill>
                <a:effectLst/>
                <a:latin typeface="Söhne"/>
              </a:rPr>
              <a:t>Exploration of techniques to enhance the security of the decentralized communication model.</a:t>
            </a:r>
          </a:p>
          <a:p>
            <a:pPr marL="1143000" lvl="2" indent="-228600" algn="just">
              <a:buFont typeface="+mj-lt"/>
              <a:buAutoNum type="arabicPeriod"/>
            </a:pPr>
            <a:endParaRPr lang="en-US" b="0" i="0" dirty="0">
              <a:solidFill>
                <a:srgbClr val="374151"/>
              </a:solidFill>
              <a:effectLst/>
              <a:latin typeface="Söhne"/>
            </a:endParaRPr>
          </a:p>
          <a:p>
            <a:pPr algn="just">
              <a:buFont typeface="+mj-lt"/>
              <a:buAutoNum type="arabicPeriod"/>
            </a:pPr>
            <a:r>
              <a:rPr lang="en-US" b="1" i="0" dirty="0">
                <a:solidFill>
                  <a:srgbClr val="374151"/>
                </a:solidFill>
                <a:effectLst/>
                <a:latin typeface="Söhne"/>
              </a:rPr>
              <a:t>DC-</a:t>
            </a:r>
            <a:r>
              <a:rPr lang="en-US" b="1" i="0" dirty="0" err="1">
                <a:solidFill>
                  <a:srgbClr val="374151"/>
                </a:solidFill>
                <a:effectLst/>
                <a:latin typeface="Söhne"/>
              </a:rPr>
              <a:t>PoET</a:t>
            </a:r>
            <a:r>
              <a:rPr lang="en-US" b="1" i="0" dirty="0">
                <a:solidFill>
                  <a:srgbClr val="374151"/>
                </a:solidFill>
                <a:effectLst/>
                <a:latin typeface="Söhne"/>
              </a:rPr>
              <a:t>: Proof-of-Elapsed-Time Consensus with Distributed Coordination for Blockchain Networks</a:t>
            </a:r>
            <a:endParaRPr lang="en-US" b="0" i="0" dirty="0">
              <a:solidFill>
                <a:srgbClr val="374151"/>
              </a:solidFill>
              <a:effectLst/>
              <a:latin typeface="Söhne"/>
            </a:endParaRPr>
          </a:p>
          <a:p>
            <a:pPr marL="742950" lvl="1" indent="-285750" algn="just">
              <a:buFont typeface="+mj-lt"/>
              <a:buAutoNum type="arabicPeriod"/>
            </a:pPr>
            <a:r>
              <a:rPr lang="en-US" b="1" i="0" dirty="0">
                <a:solidFill>
                  <a:srgbClr val="374151"/>
                </a:solidFill>
                <a:effectLst/>
                <a:latin typeface="Söhne"/>
              </a:rPr>
              <a:t>Limitations:</a:t>
            </a:r>
            <a:endParaRPr lang="en-US" b="0" i="0" dirty="0">
              <a:solidFill>
                <a:srgbClr val="374151"/>
              </a:solidFill>
              <a:effectLst/>
              <a:latin typeface="Söhne"/>
            </a:endParaRPr>
          </a:p>
          <a:p>
            <a:pPr marL="1143000" lvl="2" indent="-228600" algn="just">
              <a:buFont typeface="+mj-lt"/>
              <a:buAutoNum type="arabicPeriod"/>
            </a:pPr>
            <a:r>
              <a:rPr lang="en-US" b="0" i="0" dirty="0">
                <a:solidFill>
                  <a:srgbClr val="374151"/>
                </a:solidFill>
                <a:effectLst/>
                <a:latin typeface="Söhne"/>
              </a:rPr>
              <a:t>Resource consumption due to distributed coordination might hinder the efficiency gains of the </a:t>
            </a:r>
            <a:r>
              <a:rPr lang="en-US" b="0" i="0" dirty="0" err="1">
                <a:solidFill>
                  <a:srgbClr val="374151"/>
                </a:solidFill>
                <a:effectLst/>
                <a:latin typeface="Söhne"/>
              </a:rPr>
              <a:t>PoET</a:t>
            </a:r>
            <a:r>
              <a:rPr lang="en-US" b="0" i="0" dirty="0">
                <a:solidFill>
                  <a:srgbClr val="374151"/>
                </a:solidFill>
                <a:effectLst/>
                <a:latin typeface="Söhne"/>
              </a:rPr>
              <a:t> consensus mechanism.</a:t>
            </a:r>
          </a:p>
          <a:p>
            <a:pPr marL="1143000" lvl="2" indent="-228600" algn="just">
              <a:buFont typeface="+mj-lt"/>
              <a:buAutoNum type="arabicPeriod"/>
            </a:pPr>
            <a:r>
              <a:rPr lang="en-US" b="0" i="0" dirty="0">
                <a:solidFill>
                  <a:srgbClr val="374151"/>
                </a:solidFill>
                <a:effectLst/>
                <a:latin typeface="Söhne"/>
              </a:rPr>
              <a:t>Balancing the trade-off between security and efficiency requires further investigation.</a:t>
            </a:r>
          </a:p>
          <a:p>
            <a:pPr marL="742950" lvl="1" indent="-285750" algn="just">
              <a:buFont typeface="+mj-lt"/>
              <a:buAutoNum type="arabicPeriod"/>
            </a:pPr>
            <a:r>
              <a:rPr lang="en-US" b="1" i="0" dirty="0">
                <a:solidFill>
                  <a:srgbClr val="374151"/>
                </a:solidFill>
                <a:effectLst/>
                <a:latin typeface="Söhne"/>
              </a:rPr>
              <a:t>Future Scope:</a:t>
            </a:r>
            <a:endParaRPr lang="en-US" b="0" i="0" dirty="0">
              <a:solidFill>
                <a:srgbClr val="374151"/>
              </a:solidFill>
              <a:effectLst/>
              <a:latin typeface="Söhne"/>
            </a:endParaRPr>
          </a:p>
          <a:p>
            <a:pPr marL="1143000" lvl="2" indent="-228600" algn="just">
              <a:buFont typeface="+mj-lt"/>
              <a:buAutoNum type="arabicPeriod"/>
            </a:pPr>
            <a:r>
              <a:rPr lang="en-US" b="0" i="0" dirty="0">
                <a:solidFill>
                  <a:srgbClr val="374151"/>
                </a:solidFill>
                <a:effectLst/>
                <a:latin typeface="Söhne"/>
              </a:rPr>
              <a:t>Further optimization of the coordination process to minimize resource consumption while maintaining security guarantees.</a:t>
            </a:r>
          </a:p>
          <a:p>
            <a:pPr marL="1143000" lvl="2" indent="-228600" algn="just">
              <a:buFont typeface="+mj-lt"/>
              <a:buAutoNum type="arabicPeriod"/>
            </a:pPr>
            <a:r>
              <a:rPr lang="en-US" b="0" i="0" dirty="0">
                <a:solidFill>
                  <a:srgbClr val="374151"/>
                </a:solidFill>
                <a:effectLst/>
                <a:latin typeface="Söhne"/>
              </a:rPr>
              <a:t>Research into adapting the coordination mechanism to different network sizes and configurations.</a:t>
            </a:r>
          </a:p>
          <a:p>
            <a:pPr marL="0" indent="0" algn="just">
              <a:buNone/>
            </a:pPr>
            <a:endParaRPr lang="en-US" sz="2900" dirty="0"/>
          </a:p>
          <a:p>
            <a:pPr marL="0" indent="0" algn="just">
              <a:buNone/>
            </a:pPr>
            <a:endParaRPr lang="en-US" dirty="0"/>
          </a:p>
        </p:txBody>
      </p:sp>
      <p:sp>
        <p:nvSpPr>
          <p:cNvPr id="5" name="Slide Number Placeholder 4"/>
          <p:cNvSpPr>
            <a:spLocks noGrp="1"/>
          </p:cNvSpPr>
          <p:nvPr>
            <p:ph type="sldNum" sz="quarter" idx="15"/>
          </p:nvPr>
        </p:nvSpPr>
        <p:spPr/>
        <p:txBody>
          <a:bodyPr/>
          <a:lstStyle/>
          <a:p>
            <a:fld id="{64FE01CD-3F2C-4288-9BAE-4826118C0AF0}" type="slidenum">
              <a:rPr lang="en-US" smtClean="0"/>
              <a:pPr/>
              <a:t>7</a:t>
            </a:fld>
            <a:endParaRPr lang="en-US"/>
          </a:p>
        </p:txBody>
      </p:sp>
      <p:sp>
        <p:nvSpPr>
          <p:cNvPr id="7" name="TextBox 6"/>
          <p:cNvSpPr txBox="1"/>
          <p:nvPr/>
        </p:nvSpPr>
        <p:spPr>
          <a:xfrm>
            <a:off x="304800" y="6477000"/>
            <a:ext cx="3124200" cy="230832"/>
          </a:xfrm>
          <a:prstGeom prst="rect">
            <a:avLst/>
          </a:prstGeom>
          <a:noFill/>
        </p:spPr>
        <p:txBody>
          <a:bodyPr wrap="square" rtlCol="0">
            <a:spAutoFit/>
          </a:bodyPr>
          <a:lstStyle/>
          <a:p>
            <a:r>
              <a:rPr lang="en-US" sz="900" err="1"/>
              <a:t>Dept</a:t>
            </a:r>
            <a:r>
              <a:rPr lang="en-US" sz="900"/>
              <a:t> of Computer </a:t>
            </a:r>
            <a:r>
              <a:rPr lang="en-US" sz="900" err="1"/>
              <a:t>Engg</a:t>
            </a:r>
            <a:r>
              <a:rPr lang="en-US" sz="900"/>
              <a:t>. SVKM IOT </a:t>
            </a:r>
            <a:r>
              <a:rPr lang="en-US" sz="900" err="1"/>
              <a:t>Dhule</a:t>
            </a:r>
            <a:endParaRPr lang="en-US" sz="90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7924800" y="228600"/>
            <a:ext cx="638175" cy="763270"/>
          </a:xfrm>
          <a:prstGeom prst="rect">
            <a:avLst/>
          </a:prstGeom>
          <a:noFill/>
        </p:spPr>
      </p:pic>
    </p:spTree>
    <p:extLst>
      <p:ext uri="{BB962C8B-B14F-4D97-AF65-F5344CB8AC3E}">
        <p14:creationId xmlns:p14="http://schemas.microsoft.com/office/powerpoint/2010/main" val="178801330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24BC67-8675-EF20-B76F-49D733C81369}"/>
              </a:ext>
            </a:extLst>
          </p:cNvPr>
          <p:cNvSpPr>
            <a:spLocks noGrp="1"/>
          </p:cNvSpPr>
          <p:nvPr>
            <p:ph type="sldNum" sz="quarter" idx="15"/>
          </p:nvPr>
        </p:nvSpPr>
        <p:spPr/>
        <p:txBody>
          <a:bodyPr/>
          <a:lstStyle/>
          <a:p>
            <a:fld id="{64FE01CD-3F2C-4288-9BAE-4826118C0AF0}" type="slidenum">
              <a:rPr lang="en-US" smtClean="0"/>
              <a:pPr/>
              <a:t>8</a:t>
            </a:fld>
            <a:endParaRPr lang="en-US"/>
          </a:p>
        </p:txBody>
      </p:sp>
      <p:sp>
        <p:nvSpPr>
          <p:cNvPr id="8" name="TextBox 7">
            <a:extLst>
              <a:ext uri="{FF2B5EF4-FFF2-40B4-BE49-F238E27FC236}">
                <a16:creationId xmlns:a16="http://schemas.microsoft.com/office/drawing/2014/main" id="{71DD8964-F519-6525-3E1B-A001419483B1}"/>
              </a:ext>
            </a:extLst>
          </p:cNvPr>
          <p:cNvSpPr txBox="1"/>
          <p:nvPr/>
        </p:nvSpPr>
        <p:spPr>
          <a:xfrm>
            <a:off x="461912" y="367646"/>
            <a:ext cx="7927943" cy="5755422"/>
          </a:xfrm>
          <a:prstGeom prst="rect">
            <a:avLst/>
          </a:prstGeom>
          <a:noFill/>
        </p:spPr>
        <p:txBody>
          <a:bodyPr wrap="square">
            <a:spAutoFit/>
          </a:bodyPr>
          <a:lstStyle/>
          <a:p>
            <a:pPr algn="just"/>
            <a:r>
              <a:rPr lang="en-US" sz="1600" b="1" i="0" dirty="0">
                <a:solidFill>
                  <a:srgbClr val="374151"/>
                </a:solidFill>
                <a:effectLst/>
                <a:latin typeface="Söhne"/>
              </a:rPr>
              <a:t>3. Feature Extraction of Network Traffic in Ethereum Blockchain Network Layer for Eclipse Attack Detection</a:t>
            </a:r>
            <a:endParaRPr lang="en-US" sz="1600" b="0" i="0" dirty="0">
              <a:solidFill>
                <a:srgbClr val="374151"/>
              </a:solidFill>
              <a:effectLst/>
              <a:latin typeface="Söhne"/>
            </a:endParaRPr>
          </a:p>
          <a:p>
            <a:pPr marL="742950" lvl="1" indent="-285750" algn="just">
              <a:buFont typeface="+mj-lt"/>
              <a:buAutoNum type="arabicPeriod"/>
            </a:pPr>
            <a:r>
              <a:rPr lang="en-US" sz="1600" b="1" i="0" dirty="0">
                <a:solidFill>
                  <a:srgbClr val="374151"/>
                </a:solidFill>
                <a:effectLst/>
                <a:latin typeface="Söhne"/>
              </a:rPr>
              <a:t>Limitations:</a:t>
            </a:r>
            <a:endParaRPr lang="en-US" sz="1600" b="0" i="0" dirty="0">
              <a:solidFill>
                <a:srgbClr val="374151"/>
              </a:solidFill>
              <a:effectLst/>
              <a:latin typeface="Söhne"/>
            </a:endParaRPr>
          </a:p>
          <a:p>
            <a:pPr marL="1143000" lvl="2" indent="-228600" algn="just">
              <a:buFont typeface="+mj-lt"/>
              <a:buAutoNum type="arabicPeriod"/>
            </a:pPr>
            <a:r>
              <a:rPr lang="en-US" sz="1600" b="0" i="0" dirty="0">
                <a:solidFill>
                  <a:srgbClr val="374151"/>
                </a:solidFill>
                <a:effectLst/>
                <a:latin typeface="Söhne"/>
              </a:rPr>
              <a:t>False positives/negatives in eclipse attack detection due to the complexity of distinguishing legitimate network behavior from attacks.</a:t>
            </a:r>
          </a:p>
          <a:p>
            <a:pPr marL="1143000" lvl="2" indent="-228600" algn="just">
              <a:buFont typeface="+mj-lt"/>
              <a:buAutoNum type="arabicPeriod"/>
            </a:pPr>
            <a:r>
              <a:rPr lang="en-US" sz="1600" b="0" i="0" dirty="0">
                <a:solidFill>
                  <a:srgbClr val="374151"/>
                </a:solidFill>
                <a:effectLst/>
                <a:latin typeface="Söhne"/>
              </a:rPr>
              <a:t>Effectiveness of the feature extraction technique may vary depending on the nature of the attack and network conditions.</a:t>
            </a:r>
          </a:p>
          <a:p>
            <a:pPr marL="742950" lvl="1" indent="-285750" algn="just">
              <a:buFont typeface="+mj-lt"/>
              <a:buAutoNum type="arabicPeriod"/>
            </a:pPr>
            <a:r>
              <a:rPr lang="en-US" sz="1600" b="1" i="0" dirty="0">
                <a:solidFill>
                  <a:srgbClr val="374151"/>
                </a:solidFill>
                <a:effectLst/>
                <a:latin typeface="Söhne"/>
              </a:rPr>
              <a:t>Future Scope:</a:t>
            </a:r>
            <a:endParaRPr lang="en-US" sz="1600" b="0" i="0" dirty="0">
              <a:solidFill>
                <a:srgbClr val="374151"/>
              </a:solidFill>
              <a:effectLst/>
              <a:latin typeface="Söhne"/>
            </a:endParaRPr>
          </a:p>
          <a:p>
            <a:pPr marL="1143000" lvl="2" indent="-228600" algn="just">
              <a:buFont typeface="+mj-lt"/>
              <a:buAutoNum type="arabicPeriod"/>
            </a:pPr>
            <a:r>
              <a:rPr lang="en-US" sz="1600" b="0" i="0" dirty="0">
                <a:solidFill>
                  <a:srgbClr val="374151"/>
                </a:solidFill>
                <a:effectLst/>
                <a:latin typeface="Söhne"/>
              </a:rPr>
              <a:t>Refinement of feature extraction methods to improve accuracy in detecting eclipse attacks.</a:t>
            </a:r>
          </a:p>
          <a:p>
            <a:pPr marL="1143000" lvl="2" indent="-228600" algn="just">
              <a:buFont typeface="+mj-lt"/>
              <a:buAutoNum type="arabicPeriod"/>
            </a:pPr>
            <a:r>
              <a:rPr lang="en-US" sz="1600" b="0" i="0" dirty="0">
                <a:solidFill>
                  <a:srgbClr val="374151"/>
                </a:solidFill>
                <a:effectLst/>
                <a:latin typeface="Söhne"/>
              </a:rPr>
              <a:t>Development of adaptive detection mechanisms that can evolve with emerging attack strategies.</a:t>
            </a:r>
          </a:p>
          <a:p>
            <a:pPr algn="just"/>
            <a:r>
              <a:rPr lang="en-US" sz="1600" b="1" i="0" dirty="0">
                <a:solidFill>
                  <a:srgbClr val="374151"/>
                </a:solidFill>
                <a:effectLst/>
                <a:latin typeface="Söhne"/>
              </a:rPr>
              <a:t>4. Ethereum: A Next-Generation Smart Contract and Decentralized Application Platform</a:t>
            </a:r>
            <a:endParaRPr lang="en-US" sz="1600" b="0" i="0" dirty="0">
              <a:solidFill>
                <a:srgbClr val="374151"/>
              </a:solidFill>
              <a:effectLst/>
              <a:latin typeface="Söhne"/>
            </a:endParaRPr>
          </a:p>
          <a:p>
            <a:pPr marL="742950" lvl="1" indent="-285750" algn="just">
              <a:buFont typeface="+mj-lt"/>
              <a:buAutoNum type="arabicPeriod"/>
            </a:pPr>
            <a:r>
              <a:rPr lang="en-US" sz="1600" b="1" i="0" dirty="0">
                <a:solidFill>
                  <a:srgbClr val="374151"/>
                </a:solidFill>
                <a:effectLst/>
                <a:latin typeface="Söhne"/>
              </a:rPr>
              <a:t>Limitations:</a:t>
            </a:r>
            <a:endParaRPr lang="en-US" sz="1600" b="0" i="0" dirty="0">
              <a:solidFill>
                <a:srgbClr val="374151"/>
              </a:solidFill>
              <a:effectLst/>
              <a:latin typeface="Söhne"/>
            </a:endParaRPr>
          </a:p>
          <a:p>
            <a:pPr marL="1143000" lvl="2" indent="-228600" algn="just">
              <a:buFont typeface="+mj-lt"/>
              <a:buAutoNum type="arabicPeriod"/>
            </a:pPr>
            <a:r>
              <a:rPr lang="en-US" sz="1600" b="0" i="0" dirty="0">
                <a:solidFill>
                  <a:srgbClr val="374151"/>
                </a:solidFill>
                <a:effectLst/>
                <a:latin typeface="Söhne"/>
              </a:rPr>
              <a:t>Scalability issues resulting in network congestion and high gas fees during periods of high demand.</a:t>
            </a:r>
          </a:p>
          <a:p>
            <a:pPr marL="1143000" lvl="2" indent="-228600" algn="just">
              <a:buFont typeface="+mj-lt"/>
              <a:buAutoNum type="arabicPeriod"/>
            </a:pPr>
            <a:r>
              <a:rPr lang="en-US" sz="1600" b="0" i="0" dirty="0">
                <a:solidFill>
                  <a:srgbClr val="374151"/>
                </a:solidFill>
                <a:effectLst/>
                <a:latin typeface="Söhne"/>
              </a:rPr>
              <a:t>Vulnerabilities and security risks in smart contracts that can lead to exploits and loss of funds.</a:t>
            </a:r>
          </a:p>
          <a:p>
            <a:pPr marL="742950" lvl="1" indent="-285750" algn="just">
              <a:buFont typeface="+mj-lt"/>
              <a:buAutoNum type="arabicPeriod"/>
            </a:pPr>
            <a:r>
              <a:rPr lang="en-US" sz="1600" b="1" i="0" dirty="0">
                <a:solidFill>
                  <a:srgbClr val="374151"/>
                </a:solidFill>
                <a:effectLst/>
                <a:latin typeface="Söhne"/>
              </a:rPr>
              <a:t>Future Scope:</a:t>
            </a:r>
            <a:endParaRPr lang="en-US" sz="1600" b="0" i="0" dirty="0">
              <a:solidFill>
                <a:srgbClr val="374151"/>
              </a:solidFill>
              <a:effectLst/>
              <a:latin typeface="Söhne"/>
            </a:endParaRPr>
          </a:p>
          <a:p>
            <a:pPr marL="1143000" lvl="2" indent="-228600" algn="just">
              <a:buFont typeface="+mj-lt"/>
              <a:buAutoNum type="arabicPeriod"/>
            </a:pPr>
            <a:r>
              <a:rPr lang="en-US" sz="1600" b="0" i="0" dirty="0">
                <a:solidFill>
                  <a:srgbClr val="374151"/>
                </a:solidFill>
                <a:effectLst/>
                <a:latin typeface="Söhne"/>
              </a:rPr>
              <a:t>Continued research and implementation of Ethereum 2.0 to address scalability concerns through the transition to a Proof-of-Stake consensus mechanism.</a:t>
            </a:r>
          </a:p>
          <a:p>
            <a:pPr marL="1143000" lvl="2" indent="-228600" algn="just">
              <a:buFont typeface="+mj-lt"/>
              <a:buAutoNum type="arabicPeriod"/>
            </a:pPr>
            <a:r>
              <a:rPr lang="en-US" sz="1600" b="0" i="0" dirty="0">
                <a:solidFill>
                  <a:srgbClr val="374151"/>
                </a:solidFill>
                <a:effectLst/>
                <a:latin typeface="Söhne"/>
              </a:rPr>
              <a:t>Ongoing efforts to enhance the security of smart contracts, including formal verification techniques and improved development practices.</a:t>
            </a:r>
          </a:p>
        </p:txBody>
      </p:sp>
    </p:spTree>
    <p:extLst>
      <p:ext uri="{BB962C8B-B14F-4D97-AF65-F5344CB8AC3E}">
        <p14:creationId xmlns:p14="http://schemas.microsoft.com/office/powerpoint/2010/main" val="2166310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61D6C0-66EF-4D55-D821-641DBA8E81B3}"/>
              </a:ext>
            </a:extLst>
          </p:cNvPr>
          <p:cNvSpPr>
            <a:spLocks noGrp="1"/>
          </p:cNvSpPr>
          <p:nvPr>
            <p:ph type="sldNum" sz="quarter" idx="15"/>
          </p:nvPr>
        </p:nvSpPr>
        <p:spPr/>
        <p:txBody>
          <a:bodyPr/>
          <a:lstStyle/>
          <a:p>
            <a:fld id="{64FE01CD-3F2C-4288-9BAE-4826118C0AF0}" type="slidenum">
              <a:rPr lang="en-US" smtClean="0"/>
              <a:pPr/>
              <a:t>9</a:t>
            </a:fld>
            <a:endParaRPr lang="en-US"/>
          </a:p>
        </p:txBody>
      </p:sp>
      <p:sp>
        <p:nvSpPr>
          <p:cNvPr id="6" name="TextBox 5">
            <a:extLst>
              <a:ext uri="{FF2B5EF4-FFF2-40B4-BE49-F238E27FC236}">
                <a16:creationId xmlns:a16="http://schemas.microsoft.com/office/drawing/2014/main" id="{F21FAF69-6BAB-0767-CC80-CD630D66A0B8}"/>
              </a:ext>
            </a:extLst>
          </p:cNvPr>
          <p:cNvSpPr txBox="1"/>
          <p:nvPr/>
        </p:nvSpPr>
        <p:spPr>
          <a:xfrm>
            <a:off x="966247" y="771463"/>
            <a:ext cx="6669464" cy="4524315"/>
          </a:xfrm>
          <a:prstGeom prst="rect">
            <a:avLst/>
          </a:prstGeom>
          <a:noFill/>
        </p:spPr>
        <p:txBody>
          <a:bodyPr wrap="square">
            <a:spAutoFit/>
          </a:bodyPr>
          <a:lstStyle/>
          <a:p>
            <a:pPr algn="just"/>
            <a:r>
              <a:rPr lang="en-US" b="1" i="0" dirty="0">
                <a:solidFill>
                  <a:srgbClr val="374151"/>
                </a:solidFill>
                <a:effectLst/>
                <a:latin typeface="Söhne"/>
              </a:rPr>
              <a:t>5. Solana: A new architecture for a high performance blockchain v0.8.13</a:t>
            </a:r>
          </a:p>
          <a:p>
            <a:pPr algn="just"/>
            <a:endParaRPr lang="en-US" b="0" i="0" dirty="0">
              <a:solidFill>
                <a:srgbClr val="374151"/>
              </a:solidFill>
              <a:effectLst/>
              <a:latin typeface="Söhne"/>
            </a:endParaRPr>
          </a:p>
          <a:p>
            <a:pPr algn="just">
              <a:buFont typeface="Arial" panose="020B0604020202020204" pitchFamily="34" charset="0"/>
              <a:buChar char="•"/>
            </a:pPr>
            <a:r>
              <a:rPr lang="en-US" b="1" i="0" dirty="0">
                <a:solidFill>
                  <a:srgbClr val="374151"/>
                </a:solidFill>
                <a:effectLst/>
                <a:latin typeface="Söhne"/>
              </a:rPr>
              <a:t>Limitations:</a:t>
            </a:r>
            <a:endParaRPr lang="en-US" b="0" i="0" dirty="0">
              <a:solidFill>
                <a:srgbClr val="374151"/>
              </a:solidFill>
              <a:effectLst/>
              <a:latin typeface="Söhne"/>
            </a:endParaRPr>
          </a:p>
          <a:p>
            <a:pPr marL="742950" lvl="1" indent="-285750" algn="just">
              <a:buFont typeface="Arial" panose="020B0604020202020204" pitchFamily="34" charset="0"/>
              <a:buChar char="•"/>
            </a:pPr>
            <a:r>
              <a:rPr lang="en-US" b="0" i="0" dirty="0">
                <a:solidFill>
                  <a:srgbClr val="374151"/>
                </a:solidFill>
                <a:effectLst/>
                <a:latin typeface="Söhne"/>
              </a:rPr>
              <a:t>The real-world performance of the Solana architecture may vary from the theoretical claims, especially under varying network conditions.</a:t>
            </a:r>
          </a:p>
          <a:p>
            <a:pPr marL="742950" lvl="1" indent="-285750" algn="just">
              <a:buFont typeface="Arial" panose="020B0604020202020204" pitchFamily="34" charset="0"/>
              <a:buChar char="•"/>
            </a:pPr>
            <a:r>
              <a:rPr lang="en-US" b="0" i="0" dirty="0">
                <a:solidFill>
                  <a:srgbClr val="374151"/>
                </a:solidFill>
                <a:effectLst/>
                <a:latin typeface="Söhne"/>
              </a:rPr>
              <a:t>Ensuring decentralization as the network scales can be challenging.</a:t>
            </a:r>
          </a:p>
          <a:p>
            <a:pPr marL="742950" lvl="1" indent="-285750" algn="just">
              <a:buFont typeface="Arial" panose="020B0604020202020204" pitchFamily="34" charset="0"/>
              <a:buChar char="•"/>
            </a:pPr>
            <a:endParaRPr lang="en-US" b="0" i="0" dirty="0">
              <a:solidFill>
                <a:srgbClr val="374151"/>
              </a:solidFill>
              <a:effectLst/>
              <a:latin typeface="Söhne"/>
            </a:endParaRPr>
          </a:p>
          <a:p>
            <a:pPr algn="just">
              <a:buFont typeface="Arial" panose="020B0604020202020204" pitchFamily="34" charset="0"/>
              <a:buChar char="•"/>
            </a:pPr>
            <a:r>
              <a:rPr lang="en-US" b="1" i="0" dirty="0">
                <a:solidFill>
                  <a:srgbClr val="374151"/>
                </a:solidFill>
                <a:effectLst/>
                <a:latin typeface="Söhne"/>
              </a:rPr>
              <a:t>Future Scope:</a:t>
            </a:r>
            <a:endParaRPr lang="en-US" b="0" i="0" dirty="0">
              <a:solidFill>
                <a:srgbClr val="374151"/>
              </a:solidFill>
              <a:effectLst/>
              <a:latin typeface="Söhne"/>
            </a:endParaRPr>
          </a:p>
          <a:p>
            <a:pPr marL="742950" lvl="1" indent="-285750" algn="just">
              <a:buFont typeface="Arial" panose="020B0604020202020204" pitchFamily="34" charset="0"/>
              <a:buChar char="•"/>
            </a:pPr>
            <a:r>
              <a:rPr lang="en-US" b="0" i="0" dirty="0">
                <a:solidFill>
                  <a:srgbClr val="374151"/>
                </a:solidFill>
                <a:effectLst/>
                <a:latin typeface="Söhne"/>
              </a:rPr>
              <a:t>Empirical validation and benchmarking of the Solana network's performance and scalability claims.</a:t>
            </a:r>
          </a:p>
          <a:p>
            <a:pPr marL="742950" lvl="1" indent="-285750" algn="just">
              <a:buFont typeface="Arial" panose="020B0604020202020204" pitchFamily="34" charset="0"/>
              <a:buChar char="•"/>
            </a:pPr>
            <a:r>
              <a:rPr lang="en-US" b="0" i="0" dirty="0">
                <a:solidFill>
                  <a:srgbClr val="374151"/>
                </a:solidFill>
                <a:effectLst/>
                <a:latin typeface="Söhne"/>
              </a:rPr>
              <a:t>Research and development to maintain decentralization while accommodating a growing number of nodes and transactions.</a:t>
            </a:r>
          </a:p>
        </p:txBody>
      </p:sp>
    </p:spTree>
    <p:extLst>
      <p:ext uri="{BB962C8B-B14F-4D97-AF65-F5344CB8AC3E}">
        <p14:creationId xmlns:p14="http://schemas.microsoft.com/office/powerpoint/2010/main" val="216907816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Proposed System</a:t>
            </a:r>
          </a:p>
        </p:txBody>
      </p:sp>
      <p:sp>
        <p:nvSpPr>
          <p:cNvPr id="3" name="Content Placeholder 2"/>
          <p:cNvSpPr>
            <a:spLocks noGrp="1"/>
          </p:cNvSpPr>
          <p:nvPr>
            <p:ph sz="quarter" idx="1"/>
          </p:nvPr>
        </p:nvSpPr>
        <p:spPr>
          <a:xfrm>
            <a:off x="457200" y="1442113"/>
            <a:ext cx="7924800" cy="4873752"/>
          </a:xfrm>
        </p:spPr>
        <p:txBody>
          <a:bodyPr vert="horz" lIns="91440" tIns="45720" rIns="91440" bIns="45720" anchor="t">
            <a:normAutofit/>
          </a:bodyPr>
          <a:lstStyle/>
          <a:p>
            <a:pPr marL="0" indent="0" algn="just">
              <a:buNone/>
            </a:pPr>
            <a:r>
              <a:rPr lang="en-US" dirty="0"/>
              <a:t>Problem Statement: To Design a Smart Contract for </a:t>
            </a:r>
            <a:r>
              <a:rPr lang="en-US" dirty="0" err="1"/>
              <a:t>Sidebridge</a:t>
            </a:r>
            <a:r>
              <a:rPr lang="en-US" dirty="0"/>
              <a:t> client Services in web3 to improve &amp; Enhance the services of </a:t>
            </a:r>
            <a:r>
              <a:rPr lang="en-US" dirty="0" err="1"/>
              <a:t>Decntralized</a:t>
            </a:r>
            <a:r>
              <a:rPr lang="en-US" dirty="0"/>
              <a:t> Applications.</a:t>
            </a:r>
          </a:p>
          <a:p>
            <a:pPr marL="0" indent="0" algn="just">
              <a:buNone/>
            </a:pPr>
            <a:endParaRPr lang="en-US" dirty="0"/>
          </a:p>
          <a:p>
            <a:pPr marL="0" indent="0" algn="just">
              <a:buNone/>
            </a:pPr>
            <a:r>
              <a:rPr lang="en-US" dirty="0"/>
              <a:t>Objective:</a:t>
            </a:r>
          </a:p>
          <a:p>
            <a:pPr marL="0" indent="0" algn="just">
              <a:buNone/>
            </a:pPr>
            <a:r>
              <a:rPr lang="en-US" dirty="0"/>
              <a:t>1.   Side bridge for Decentralized apps </a:t>
            </a:r>
          </a:p>
          <a:p>
            <a:pPr marL="0" indent="0" algn="just">
              <a:buNone/>
            </a:pPr>
            <a:r>
              <a:rPr lang="en-US" dirty="0"/>
              <a:t>2.   Decentralized  RPC service for Web3</a:t>
            </a:r>
          </a:p>
          <a:p>
            <a:pPr marL="0" indent="0" algn="just">
              <a:buNone/>
            </a:pPr>
            <a:r>
              <a:rPr lang="en-US" dirty="0"/>
              <a:t>3.   Speed Up Transactions</a:t>
            </a:r>
          </a:p>
          <a:p>
            <a:pPr marL="0" indent="0" algn="just">
              <a:buNone/>
            </a:pPr>
            <a:r>
              <a:rPr lang="en-US" dirty="0"/>
              <a:t>4.   Cost Reduction in Maintenance of Nodes </a:t>
            </a:r>
          </a:p>
          <a:p>
            <a:pPr marL="0" indent="0" algn="just">
              <a:buNone/>
            </a:pPr>
            <a:r>
              <a:rPr lang="en-US" dirty="0"/>
              <a:t>5.   Avoid Single Point Failure</a:t>
            </a:r>
          </a:p>
          <a:p>
            <a:pPr marL="0" indent="0" algn="just">
              <a:buNone/>
            </a:pPr>
            <a:r>
              <a:rPr lang="en-US" dirty="0"/>
              <a:t>6.   Avoid Fault Tolerance </a:t>
            </a:r>
          </a:p>
          <a:p>
            <a:pPr marL="0" indent="0">
              <a:buNone/>
            </a:pPr>
            <a:endParaRPr lang="en-US" dirty="0"/>
          </a:p>
        </p:txBody>
      </p:sp>
      <p:sp>
        <p:nvSpPr>
          <p:cNvPr id="5" name="Slide Number Placeholder 4"/>
          <p:cNvSpPr>
            <a:spLocks noGrp="1"/>
          </p:cNvSpPr>
          <p:nvPr>
            <p:ph type="sldNum" sz="quarter" idx="15"/>
          </p:nvPr>
        </p:nvSpPr>
        <p:spPr/>
        <p:txBody>
          <a:bodyPr/>
          <a:lstStyle/>
          <a:p>
            <a:fld id="{64FE01CD-3F2C-4288-9BAE-4826118C0AF0}" type="slidenum">
              <a:rPr lang="en-US" smtClean="0"/>
              <a:pPr/>
              <a:t>10</a:t>
            </a:fld>
            <a:endParaRPr lang="en-US"/>
          </a:p>
        </p:txBody>
      </p:sp>
      <p:sp>
        <p:nvSpPr>
          <p:cNvPr id="7" name="TextBox 6"/>
          <p:cNvSpPr txBox="1"/>
          <p:nvPr/>
        </p:nvSpPr>
        <p:spPr>
          <a:xfrm>
            <a:off x="304800" y="6477000"/>
            <a:ext cx="3124200" cy="230832"/>
          </a:xfrm>
          <a:prstGeom prst="rect">
            <a:avLst/>
          </a:prstGeom>
          <a:noFill/>
        </p:spPr>
        <p:txBody>
          <a:bodyPr wrap="square" rtlCol="0">
            <a:spAutoFit/>
          </a:bodyPr>
          <a:lstStyle/>
          <a:p>
            <a:r>
              <a:rPr lang="en-US" sz="900" err="1"/>
              <a:t>Dept</a:t>
            </a:r>
            <a:r>
              <a:rPr lang="en-US" sz="900"/>
              <a:t> of Computer </a:t>
            </a:r>
            <a:r>
              <a:rPr lang="en-US" sz="900" err="1"/>
              <a:t>Engg</a:t>
            </a:r>
            <a:r>
              <a:rPr lang="en-US" sz="900"/>
              <a:t>. SVKM IOT </a:t>
            </a:r>
            <a:r>
              <a:rPr lang="en-US" sz="900" err="1"/>
              <a:t>Dhule</a:t>
            </a:r>
            <a:endParaRPr lang="en-US" sz="90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7924800" y="228600"/>
            <a:ext cx="638175" cy="763270"/>
          </a:xfrm>
          <a:prstGeom prst="rect">
            <a:avLst/>
          </a:prstGeom>
          <a:noFill/>
        </p:spPr>
      </p:pic>
    </p:spTree>
    <p:extLst>
      <p:ext uri="{BB962C8B-B14F-4D97-AF65-F5344CB8AC3E}">
        <p14:creationId xmlns:p14="http://schemas.microsoft.com/office/powerpoint/2010/main" val="178801330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2657982"/>
          </a:xfrm>
        </p:spPr>
        <p:txBody>
          <a:bodyPr vert="horz" lIns="91440" tIns="45720" rIns="91440" bIns="45720" anchor="b">
            <a:normAutofit/>
          </a:bodyPr>
          <a:lstStyle/>
          <a:p>
            <a:r>
              <a:rPr lang="en-US" b="1" dirty="0">
                <a:solidFill>
                  <a:schemeClr val="tx1"/>
                </a:solidFill>
              </a:rPr>
              <a:t>Tools &amp; Technologies to be used</a:t>
            </a:r>
            <a:br>
              <a:rPr lang="en-US" b="1" dirty="0">
                <a:solidFill>
                  <a:schemeClr val="tx1"/>
                </a:solidFill>
              </a:rPr>
            </a:br>
            <a:br>
              <a:rPr lang="en-US" b="1" dirty="0">
                <a:solidFill>
                  <a:schemeClr val="tx1"/>
                </a:solidFill>
              </a:rPr>
            </a:br>
            <a:r>
              <a:rPr lang="en-US" b="1" dirty="0">
                <a:solidFill>
                  <a:schemeClr val="tx1"/>
                </a:solidFill>
              </a:rPr>
              <a:t>  </a:t>
            </a:r>
            <a:br>
              <a:rPr lang="en-US" b="1" dirty="0"/>
            </a:br>
            <a:r>
              <a:rPr lang="en-US" b="1" dirty="0">
                <a:solidFill>
                  <a:schemeClr val="tx1"/>
                </a:solidFill>
              </a:rPr>
              <a:t> </a:t>
            </a:r>
            <a:br>
              <a:rPr lang="en-US" b="1" dirty="0"/>
            </a:br>
            <a:r>
              <a:rPr lang="en-US" b="1" dirty="0">
                <a:solidFill>
                  <a:schemeClr val="tx1"/>
                </a:solidFill>
              </a:rPr>
              <a:t>   </a:t>
            </a:r>
          </a:p>
        </p:txBody>
      </p:sp>
      <p:sp>
        <p:nvSpPr>
          <p:cNvPr id="3" name="Content Placeholder 2"/>
          <p:cNvSpPr>
            <a:spLocks noGrp="1"/>
          </p:cNvSpPr>
          <p:nvPr>
            <p:ph sz="quarter" idx="1"/>
          </p:nvPr>
        </p:nvSpPr>
        <p:spPr>
          <a:xfrm>
            <a:off x="204216" y="1275140"/>
            <a:ext cx="7924800" cy="4873752"/>
          </a:xfrm>
        </p:spPr>
        <p:txBody>
          <a:bodyPr vert="horz" lIns="91440" tIns="45720" rIns="91440" bIns="45720" anchor="t">
            <a:normAutofit fontScale="92500" lnSpcReduction="20000"/>
          </a:bodyPr>
          <a:lstStyle/>
          <a:p>
            <a:pPr marL="0" indent="0">
              <a:buNone/>
            </a:pPr>
            <a:r>
              <a:rPr lang="en-US" sz="3000" cap="small" dirty="0"/>
              <a:t>Technologies :</a:t>
            </a:r>
            <a:endParaRPr lang="en-US" dirty="0"/>
          </a:p>
          <a:p>
            <a:pPr marL="0" indent="0">
              <a:buNone/>
            </a:pPr>
            <a:r>
              <a:rPr lang="en-US" sz="3000" cap="small" dirty="0"/>
              <a:t>1. Blockchain</a:t>
            </a:r>
            <a:endParaRPr lang="en-US" dirty="0"/>
          </a:p>
          <a:p>
            <a:pPr marL="0" indent="0">
              <a:buNone/>
            </a:pPr>
            <a:r>
              <a:rPr lang="en-US" sz="3000" cap="small" dirty="0"/>
              <a:t>2. web3</a:t>
            </a:r>
          </a:p>
          <a:p>
            <a:pPr marL="0" indent="0">
              <a:buNone/>
            </a:pPr>
            <a:endParaRPr lang="en-US" sz="3000" cap="small" dirty="0"/>
          </a:p>
          <a:p>
            <a:pPr marL="0" indent="0">
              <a:buNone/>
            </a:pPr>
            <a:r>
              <a:rPr lang="en-US" sz="3000" cap="small" dirty="0"/>
              <a:t>Tools :</a:t>
            </a:r>
          </a:p>
          <a:p>
            <a:pPr marL="0" indent="0">
              <a:buNone/>
            </a:pPr>
            <a:r>
              <a:rPr lang="en-US" sz="3000" cap="small" dirty="0"/>
              <a:t>1. Phantom wallet</a:t>
            </a:r>
            <a:endParaRPr lang="en-US" dirty="0"/>
          </a:p>
          <a:p>
            <a:pPr marL="0" indent="0">
              <a:buNone/>
            </a:pPr>
            <a:r>
              <a:rPr lang="en-US" sz="3000" cap="small" dirty="0"/>
              <a:t>2. Rust </a:t>
            </a:r>
            <a:endParaRPr lang="en-US" sz="2800" cap="small" dirty="0">
              <a:latin typeface="Verdana"/>
              <a:ea typeface="Verdana"/>
            </a:endParaRPr>
          </a:p>
          <a:p>
            <a:pPr marL="0" indent="0">
              <a:buNone/>
            </a:pPr>
            <a:r>
              <a:rPr lang="en-US" sz="3000" cap="small" dirty="0"/>
              <a:t>3. Go </a:t>
            </a:r>
          </a:p>
          <a:p>
            <a:pPr marL="0" indent="0">
              <a:buNone/>
            </a:pPr>
            <a:r>
              <a:rPr lang="en-US" sz="3000" cap="small" dirty="0"/>
              <a:t>4. </a:t>
            </a:r>
            <a:r>
              <a:rPr lang="en-US" sz="3000" cap="small" dirty="0" err="1"/>
              <a:t>Openzepline</a:t>
            </a:r>
            <a:r>
              <a:rPr lang="en-US" sz="3000" cap="small" dirty="0"/>
              <a:t> </a:t>
            </a:r>
          </a:p>
          <a:p>
            <a:pPr marL="0" indent="0">
              <a:buNone/>
            </a:pPr>
            <a:r>
              <a:rPr lang="en-US" sz="3000" cap="small" dirty="0"/>
              <a:t>5. Atom</a:t>
            </a:r>
          </a:p>
          <a:p>
            <a:pPr marL="0" indent="0">
              <a:buNone/>
            </a:pPr>
            <a:r>
              <a:rPr lang="en-US" sz="3000" cap="small" dirty="0"/>
              <a:t>6. </a:t>
            </a:r>
            <a:r>
              <a:rPr lang="en-US" sz="3000" cap="small" dirty="0" err="1"/>
              <a:t>Spacemacs</a:t>
            </a:r>
            <a:r>
              <a:rPr lang="en-US" sz="3000" cap="small" dirty="0"/>
              <a:t> </a:t>
            </a:r>
          </a:p>
          <a:p>
            <a:pPr marL="0" indent="0" algn="just">
              <a:buNone/>
            </a:pPr>
            <a:endParaRPr lang="en-US" sz="3000" b="1" cap="small" dirty="0"/>
          </a:p>
          <a:p>
            <a:pPr marL="0" indent="0">
              <a:buNone/>
            </a:pPr>
            <a:endParaRPr lang="en-US" sz="2800" dirty="0"/>
          </a:p>
        </p:txBody>
      </p:sp>
      <p:sp>
        <p:nvSpPr>
          <p:cNvPr id="5" name="Slide Number Placeholder 4"/>
          <p:cNvSpPr>
            <a:spLocks noGrp="1"/>
          </p:cNvSpPr>
          <p:nvPr>
            <p:ph type="sldNum" sz="quarter" idx="15"/>
          </p:nvPr>
        </p:nvSpPr>
        <p:spPr/>
        <p:txBody>
          <a:bodyPr/>
          <a:lstStyle/>
          <a:p>
            <a:fld id="{64FE01CD-3F2C-4288-9BAE-4826118C0AF0}" type="slidenum">
              <a:rPr lang="en-US" smtClean="0"/>
              <a:pPr/>
              <a:t>11</a:t>
            </a:fld>
            <a:endParaRPr lang="en-US"/>
          </a:p>
        </p:txBody>
      </p:sp>
      <p:sp>
        <p:nvSpPr>
          <p:cNvPr id="7" name="TextBox 6"/>
          <p:cNvSpPr txBox="1"/>
          <p:nvPr/>
        </p:nvSpPr>
        <p:spPr>
          <a:xfrm>
            <a:off x="304800" y="6477000"/>
            <a:ext cx="3124200" cy="230832"/>
          </a:xfrm>
          <a:prstGeom prst="rect">
            <a:avLst/>
          </a:prstGeom>
          <a:noFill/>
        </p:spPr>
        <p:txBody>
          <a:bodyPr wrap="square" rtlCol="0">
            <a:spAutoFit/>
          </a:bodyPr>
          <a:lstStyle/>
          <a:p>
            <a:r>
              <a:rPr lang="en-US" sz="900" err="1"/>
              <a:t>Dept</a:t>
            </a:r>
            <a:r>
              <a:rPr lang="en-US" sz="900"/>
              <a:t> of Computer </a:t>
            </a:r>
            <a:r>
              <a:rPr lang="en-US" sz="900" err="1"/>
              <a:t>Engg</a:t>
            </a:r>
            <a:r>
              <a:rPr lang="en-US" sz="900"/>
              <a:t>. SVKM IOT </a:t>
            </a:r>
            <a:r>
              <a:rPr lang="en-US" sz="900" err="1"/>
              <a:t>Dhule</a:t>
            </a:r>
            <a:endParaRPr lang="en-US" sz="90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7924800" y="228600"/>
            <a:ext cx="638175" cy="763270"/>
          </a:xfrm>
          <a:prstGeom prst="rect">
            <a:avLst/>
          </a:prstGeom>
          <a:noFill/>
        </p:spPr>
      </p:pic>
    </p:spTree>
    <p:extLst>
      <p:ext uri="{BB962C8B-B14F-4D97-AF65-F5344CB8AC3E}">
        <p14:creationId xmlns:p14="http://schemas.microsoft.com/office/powerpoint/2010/main" val="230313998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chemeClr val="tx1"/>
                </a:solidFill>
              </a:rPr>
              <a:t>Focus on Proposed Methodology</a:t>
            </a:r>
            <a:r>
              <a:rPr lang="en-US"/>
              <a:t> </a:t>
            </a:r>
            <a:endParaRPr lang="en-US" b="1">
              <a:solidFill>
                <a:schemeClr val="tx1"/>
              </a:solidFill>
            </a:endParaRPr>
          </a:p>
        </p:txBody>
      </p:sp>
      <p:sp>
        <p:nvSpPr>
          <p:cNvPr id="3" name="Content Placeholder 2"/>
          <p:cNvSpPr>
            <a:spLocks noGrp="1"/>
          </p:cNvSpPr>
          <p:nvPr>
            <p:ph sz="quarter" idx="1"/>
          </p:nvPr>
        </p:nvSpPr>
        <p:spPr>
          <a:xfrm>
            <a:off x="457200" y="1442113"/>
            <a:ext cx="7924800" cy="4873752"/>
          </a:xfrm>
        </p:spPr>
        <p:txBody>
          <a:bodyPr/>
          <a:lstStyle/>
          <a:p>
            <a:pPr marL="0" indent="0" algn="just">
              <a:buNone/>
            </a:pPr>
            <a:r>
              <a:rPr lang="en-US" dirty="0"/>
              <a:t>Step1 : Deploy a smart contract to connect public decentralized nodes.</a:t>
            </a:r>
          </a:p>
          <a:p>
            <a:pPr marL="0" indent="0" algn="just">
              <a:buNone/>
            </a:pPr>
            <a:endParaRPr lang="en-US" dirty="0"/>
          </a:p>
          <a:p>
            <a:pPr marL="0" indent="0" algn="just">
              <a:buNone/>
            </a:pPr>
            <a:r>
              <a:rPr lang="en-US" dirty="0"/>
              <a:t>Step 2: For Validation purpose deploy proof of elapsed time consensus for validators.</a:t>
            </a:r>
          </a:p>
          <a:p>
            <a:pPr marL="0" indent="0" algn="just">
              <a:buNone/>
            </a:pPr>
            <a:endParaRPr lang="en-US" dirty="0"/>
          </a:p>
          <a:p>
            <a:pPr marL="0" indent="0" algn="just">
              <a:buNone/>
            </a:pPr>
            <a:r>
              <a:rPr lang="en-US" dirty="0"/>
              <a:t>Step 3: prevention of eclipse attack solve the problem of double spending.</a:t>
            </a:r>
          </a:p>
          <a:p>
            <a:pPr marL="0" indent="0" algn="just">
              <a:buNone/>
            </a:pPr>
            <a:endParaRPr lang="en-US" dirty="0"/>
          </a:p>
          <a:p>
            <a:pPr marL="0" indent="0" algn="just">
              <a:buNone/>
            </a:pPr>
            <a:r>
              <a:rPr lang="en-US" dirty="0"/>
              <a:t>Step4 : Test the Transaction by connecting Web3 Wallet to Smart Contract.</a:t>
            </a:r>
          </a:p>
        </p:txBody>
      </p:sp>
      <p:sp>
        <p:nvSpPr>
          <p:cNvPr id="5" name="Slide Number Placeholder 4"/>
          <p:cNvSpPr>
            <a:spLocks noGrp="1"/>
          </p:cNvSpPr>
          <p:nvPr>
            <p:ph type="sldNum" sz="quarter" idx="15"/>
          </p:nvPr>
        </p:nvSpPr>
        <p:spPr/>
        <p:txBody>
          <a:bodyPr/>
          <a:lstStyle/>
          <a:p>
            <a:fld id="{64FE01CD-3F2C-4288-9BAE-4826118C0AF0}" type="slidenum">
              <a:rPr lang="en-US" smtClean="0"/>
              <a:pPr/>
              <a:t>12</a:t>
            </a:fld>
            <a:endParaRPr lang="en-US"/>
          </a:p>
        </p:txBody>
      </p:sp>
      <p:sp>
        <p:nvSpPr>
          <p:cNvPr id="7" name="TextBox 6"/>
          <p:cNvSpPr txBox="1"/>
          <p:nvPr/>
        </p:nvSpPr>
        <p:spPr>
          <a:xfrm>
            <a:off x="304800" y="6477000"/>
            <a:ext cx="3124200" cy="230832"/>
          </a:xfrm>
          <a:prstGeom prst="rect">
            <a:avLst/>
          </a:prstGeom>
          <a:noFill/>
        </p:spPr>
        <p:txBody>
          <a:bodyPr wrap="square" rtlCol="0">
            <a:spAutoFit/>
          </a:bodyPr>
          <a:lstStyle/>
          <a:p>
            <a:r>
              <a:rPr lang="en-US" sz="900" err="1"/>
              <a:t>Dept</a:t>
            </a:r>
            <a:r>
              <a:rPr lang="en-US" sz="900"/>
              <a:t> of Computer </a:t>
            </a:r>
            <a:r>
              <a:rPr lang="en-US" sz="900" err="1"/>
              <a:t>Engg</a:t>
            </a:r>
            <a:r>
              <a:rPr lang="en-US" sz="900"/>
              <a:t>. SVKM IOT </a:t>
            </a:r>
            <a:r>
              <a:rPr lang="en-US" sz="900" err="1"/>
              <a:t>Dhule</a:t>
            </a:r>
            <a:endParaRPr lang="en-US" sz="90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7924800" y="228600"/>
            <a:ext cx="638175" cy="763270"/>
          </a:xfrm>
          <a:prstGeom prst="rect">
            <a:avLst/>
          </a:prstGeom>
          <a:noFill/>
        </p:spPr>
      </p:pic>
    </p:spTree>
    <p:extLst>
      <p:ext uri="{BB962C8B-B14F-4D97-AF65-F5344CB8AC3E}">
        <p14:creationId xmlns:p14="http://schemas.microsoft.com/office/powerpoint/2010/main" val="230313998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chemeClr val="tx1"/>
                </a:solidFill>
              </a:rPr>
              <a:t>Project Progress Timeline</a:t>
            </a:r>
          </a:p>
        </p:txBody>
      </p:sp>
      <p:sp>
        <p:nvSpPr>
          <p:cNvPr id="3" name="Content Placeholder 2"/>
          <p:cNvSpPr>
            <a:spLocks noGrp="1"/>
          </p:cNvSpPr>
          <p:nvPr>
            <p:ph sz="quarter" idx="1"/>
          </p:nvPr>
        </p:nvSpPr>
        <p:spPr>
          <a:xfrm>
            <a:off x="457200" y="1442113"/>
            <a:ext cx="7924800" cy="4873752"/>
          </a:xfrm>
        </p:spPr>
        <p:txBody>
          <a:bodyPr vert="horz" lIns="91440" tIns="45720" rIns="91440" bIns="45720" anchor="t">
            <a:normAutofit/>
          </a:bodyPr>
          <a:lstStyle/>
          <a:p>
            <a:pPr marL="0" indent="0" algn="just">
              <a:buNone/>
            </a:pPr>
            <a:r>
              <a:rPr lang="en-US" dirty="0"/>
              <a:t>Phase 1 : Identify &amp; Design solution for problem                       statement.</a:t>
            </a:r>
          </a:p>
          <a:p>
            <a:pPr marL="0" indent="0" algn="just">
              <a:buNone/>
            </a:pPr>
            <a:endParaRPr lang="en-US" dirty="0"/>
          </a:p>
          <a:p>
            <a:pPr marL="0" indent="0" algn="just">
              <a:buNone/>
            </a:pPr>
            <a:r>
              <a:rPr lang="en-US" dirty="0"/>
              <a:t>Phase 2 : Deploy a smart contract on Blockchain using Rust and Go.</a:t>
            </a:r>
          </a:p>
          <a:p>
            <a:pPr marL="0" indent="0" algn="just">
              <a:buNone/>
            </a:pPr>
            <a:r>
              <a:rPr lang="en-US" dirty="0"/>
              <a:t> </a:t>
            </a:r>
          </a:p>
          <a:p>
            <a:pPr marL="0" indent="0" algn="just">
              <a:buNone/>
            </a:pPr>
            <a:r>
              <a:rPr lang="en-US" dirty="0"/>
              <a:t>Phase 3 :  Connect a smart contract to wallet and GUI.</a:t>
            </a:r>
          </a:p>
          <a:p>
            <a:pPr marL="0" indent="0">
              <a:buNone/>
            </a:pPr>
            <a:endParaRPr lang="en-US" dirty="0"/>
          </a:p>
          <a:p>
            <a:pPr marL="0" indent="0">
              <a:buNone/>
            </a:pPr>
            <a:r>
              <a:rPr lang="en-US" dirty="0"/>
              <a:t>Phase 4 : Testing the Project with respect to current system limitations.</a:t>
            </a:r>
          </a:p>
        </p:txBody>
      </p:sp>
      <p:sp>
        <p:nvSpPr>
          <p:cNvPr id="5" name="Slide Number Placeholder 4"/>
          <p:cNvSpPr>
            <a:spLocks noGrp="1"/>
          </p:cNvSpPr>
          <p:nvPr>
            <p:ph type="sldNum" sz="quarter" idx="15"/>
          </p:nvPr>
        </p:nvSpPr>
        <p:spPr/>
        <p:txBody>
          <a:bodyPr/>
          <a:lstStyle/>
          <a:p>
            <a:fld id="{64FE01CD-3F2C-4288-9BAE-4826118C0AF0}" type="slidenum">
              <a:rPr lang="en-US" smtClean="0"/>
              <a:pPr/>
              <a:t>13</a:t>
            </a:fld>
            <a:endParaRPr lang="en-US"/>
          </a:p>
        </p:txBody>
      </p:sp>
      <p:sp>
        <p:nvSpPr>
          <p:cNvPr id="7" name="TextBox 6"/>
          <p:cNvSpPr txBox="1"/>
          <p:nvPr/>
        </p:nvSpPr>
        <p:spPr>
          <a:xfrm>
            <a:off x="304800" y="6477000"/>
            <a:ext cx="3124200" cy="230832"/>
          </a:xfrm>
          <a:prstGeom prst="rect">
            <a:avLst/>
          </a:prstGeom>
          <a:noFill/>
        </p:spPr>
        <p:txBody>
          <a:bodyPr wrap="square" rtlCol="0">
            <a:spAutoFit/>
          </a:bodyPr>
          <a:lstStyle/>
          <a:p>
            <a:r>
              <a:rPr lang="en-US" sz="900" err="1"/>
              <a:t>Dept</a:t>
            </a:r>
            <a:r>
              <a:rPr lang="en-US" sz="900"/>
              <a:t> of Computer </a:t>
            </a:r>
            <a:r>
              <a:rPr lang="en-US" sz="900" err="1"/>
              <a:t>Engg</a:t>
            </a:r>
            <a:r>
              <a:rPr lang="en-US" sz="900"/>
              <a:t>. SVKM IOT </a:t>
            </a:r>
            <a:r>
              <a:rPr lang="en-US" sz="900" err="1"/>
              <a:t>Dhule</a:t>
            </a:r>
            <a:endParaRPr lang="en-US" sz="90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7924800" y="228600"/>
            <a:ext cx="638175" cy="763270"/>
          </a:xfrm>
          <a:prstGeom prst="rect">
            <a:avLst/>
          </a:prstGeom>
          <a:noFill/>
        </p:spPr>
      </p:pic>
    </p:spTree>
    <p:extLst>
      <p:ext uri="{BB962C8B-B14F-4D97-AF65-F5344CB8AC3E}">
        <p14:creationId xmlns:p14="http://schemas.microsoft.com/office/powerpoint/2010/main" val="230313998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chemeClr val="tx1"/>
                </a:solidFill>
              </a:rPr>
              <a:t>Conclusion</a:t>
            </a:r>
          </a:p>
        </p:txBody>
      </p:sp>
      <p:sp>
        <p:nvSpPr>
          <p:cNvPr id="3" name="Content Placeholder 2"/>
          <p:cNvSpPr>
            <a:spLocks noGrp="1"/>
          </p:cNvSpPr>
          <p:nvPr>
            <p:ph sz="quarter" idx="1"/>
          </p:nvPr>
        </p:nvSpPr>
        <p:spPr>
          <a:xfrm>
            <a:off x="457200" y="1442113"/>
            <a:ext cx="7924800" cy="4873752"/>
          </a:xfrm>
        </p:spPr>
        <p:txBody>
          <a:bodyPr vert="horz" lIns="91440" tIns="45720" rIns="91440" bIns="45720" anchor="t">
            <a:normAutofit/>
          </a:bodyPr>
          <a:lstStyle/>
          <a:p>
            <a:pPr marL="0" indent="0" algn="just">
              <a:buNone/>
            </a:pPr>
            <a:r>
              <a:rPr lang="en-US" dirty="0"/>
              <a:t>The proposed idea is aiming to solve the problem of </a:t>
            </a:r>
          </a:p>
          <a:p>
            <a:pPr marL="457200" indent="-457200" algn="just">
              <a:buAutoNum type="arabicPeriod"/>
            </a:pPr>
            <a:r>
              <a:rPr lang="en-US" dirty="0"/>
              <a:t>Single point failure by Eliminating Centralized RPC.</a:t>
            </a:r>
          </a:p>
          <a:p>
            <a:pPr marL="457200" indent="-457200" algn="just">
              <a:buAutoNum type="arabicPeriod"/>
            </a:pPr>
            <a:r>
              <a:rPr lang="en-US" dirty="0"/>
              <a:t>Removing Eclipse Attack and Double Spending using proof of elapsed time (</a:t>
            </a:r>
            <a:r>
              <a:rPr lang="en-US" dirty="0" err="1"/>
              <a:t>PoET</a:t>
            </a:r>
            <a:r>
              <a:rPr lang="en-US" dirty="0"/>
              <a:t>).</a:t>
            </a:r>
          </a:p>
          <a:p>
            <a:pPr marL="457200" indent="-457200" algn="just">
              <a:buAutoNum type="arabicPeriod"/>
            </a:pPr>
            <a:r>
              <a:rPr lang="en-US" dirty="0"/>
              <a:t>Reducing High Expense cost on web3 services (Maintenance of Nodes).</a:t>
            </a:r>
          </a:p>
          <a:p>
            <a:pPr marL="457200" indent="-457200" algn="just">
              <a:buAutoNum type="arabicPeriod"/>
            </a:pPr>
            <a:r>
              <a:rPr lang="en-US" dirty="0"/>
              <a:t>Speeding up decentralized apps on web3 infrastructure.</a:t>
            </a:r>
          </a:p>
          <a:p>
            <a:pPr marL="0" indent="0" algn="just">
              <a:buNone/>
            </a:pPr>
            <a:endParaRPr lang="en-US" dirty="0"/>
          </a:p>
          <a:p>
            <a:pPr marL="0" indent="0" algn="just">
              <a:buNone/>
            </a:pPr>
            <a:endParaRPr lang="en-US" dirty="0"/>
          </a:p>
          <a:p>
            <a:pPr marL="0" indent="0">
              <a:buNone/>
            </a:pPr>
            <a:endParaRPr lang="en-US" dirty="0"/>
          </a:p>
        </p:txBody>
      </p:sp>
      <p:sp>
        <p:nvSpPr>
          <p:cNvPr id="5" name="Slide Number Placeholder 4"/>
          <p:cNvSpPr>
            <a:spLocks noGrp="1"/>
          </p:cNvSpPr>
          <p:nvPr>
            <p:ph type="sldNum" sz="quarter" idx="15"/>
          </p:nvPr>
        </p:nvSpPr>
        <p:spPr/>
        <p:txBody>
          <a:bodyPr/>
          <a:lstStyle/>
          <a:p>
            <a:fld id="{64FE01CD-3F2C-4288-9BAE-4826118C0AF0}" type="slidenum">
              <a:rPr lang="en-US" smtClean="0"/>
              <a:pPr/>
              <a:t>14</a:t>
            </a:fld>
            <a:endParaRPr lang="en-US"/>
          </a:p>
        </p:txBody>
      </p:sp>
      <p:sp>
        <p:nvSpPr>
          <p:cNvPr id="7" name="TextBox 6"/>
          <p:cNvSpPr txBox="1"/>
          <p:nvPr/>
        </p:nvSpPr>
        <p:spPr>
          <a:xfrm>
            <a:off x="304800" y="6477000"/>
            <a:ext cx="3124200" cy="230832"/>
          </a:xfrm>
          <a:prstGeom prst="rect">
            <a:avLst/>
          </a:prstGeom>
          <a:noFill/>
        </p:spPr>
        <p:txBody>
          <a:bodyPr wrap="square" rtlCol="0">
            <a:spAutoFit/>
          </a:bodyPr>
          <a:lstStyle/>
          <a:p>
            <a:r>
              <a:rPr lang="en-US" sz="900" err="1"/>
              <a:t>Dept</a:t>
            </a:r>
            <a:r>
              <a:rPr lang="en-US" sz="900"/>
              <a:t> of Computer </a:t>
            </a:r>
            <a:r>
              <a:rPr lang="en-US" sz="900" err="1"/>
              <a:t>Engg</a:t>
            </a:r>
            <a:r>
              <a:rPr lang="en-US" sz="900"/>
              <a:t>. SVKM IOT </a:t>
            </a:r>
            <a:r>
              <a:rPr lang="en-US" sz="900" err="1"/>
              <a:t>Dhule</a:t>
            </a:r>
            <a:endParaRPr lang="en-US" sz="90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7924800" y="228600"/>
            <a:ext cx="638175" cy="763270"/>
          </a:xfrm>
          <a:prstGeom prst="rect">
            <a:avLst/>
          </a:prstGeom>
          <a:noFill/>
        </p:spPr>
      </p:pic>
    </p:spTree>
    <p:extLst>
      <p:ext uri="{BB962C8B-B14F-4D97-AF65-F5344CB8AC3E}">
        <p14:creationId xmlns:p14="http://schemas.microsoft.com/office/powerpoint/2010/main" val="230313998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955"/>
            <a:ext cx="7467600" cy="1143000"/>
          </a:xfrm>
        </p:spPr>
        <p:txBody>
          <a:bodyPr/>
          <a:lstStyle/>
          <a:p>
            <a:r>
              <a:rPr lang="en-US" b="1" dirty="0">
                <a:solidFill>
                  <a:schemeClr val="tx1"/>
                </a:solidFill>
              </a:rPr>
              <a:t>References</a:t>
            </a:r>
          </a:p>
        </p:txBody>
      </p:sp>
      <p:sp>
        <p:nvSpPr>
          <p:cNvPr id="3" name="Content Placeholder 2"/>
          <p:cNvSpPr>
            <a:spLocks noGrp="1"/>
          </p:cNvSpPr>
          <p:nvPr>
            <p:ph sz="quarter" idx="1"/>
          </p:nvPr>
        </p:nvSpPr>
        <p:spPr>
          <a:xfrm>
            <a:off x="457200" y="1188515"/>
            <a:ext cx="7924800" cy="5105400"/>
          </a:xfrm>
        </p:spPr>
        <p:txBody>
          <a:bodyPr>
            <a:normAutofit fontScale="92500" lnSpcReduction="10000"/>
          </a:bodyPr>
          <a:lstStyle/>
          <a:p>
            <a:pPr marL="0" indent="0" algn="just">
              <a:buNone/>
            </a:pPr>
            <a:r>
              <a:rPr lang="en-US" dirty="0"/>
              <a:t>1.  A </a:t>
            </a:r>
            <a:r>
              <a:rPr lang="en-US" dirty="0" err="1"/>
              <a:t>Dcentralised</a:t>
            </a:r>
            <a:r>
              <a:rPr lang="en-US" dirty="0"/>
              <a:t> Remote Procedure Call Transaction       Manager by </a:t>
            </a:r>
            <a:r>
              <a:rPr lang="en-US" dirty="0" err="1"/>
              <a:t>Wanlei</a:t>
            </a:r>
            <a:r>
              <a:rPr lang="en-US" dirty="0"/>
              <a:t> </a:t>
            </a:r>
            <a:r>
              <a:rPr lang="en-US" dirty="0" err="1"/>
              <a:t>zhou</a:t>
            </a:r>
            <a:r>
              <a:rPr lang="en-US" dirty="0"/>
              <a:t> (1992)</a:t>
            </a:r>
          </a:p>
          <a:p>
            <a:pPr marL="0" indent="0" algn="just">
              <a:buNone/>
            </a:pPr>
            <a:r>
              <a:rPr lang="en-US" dirty="0"/>
              <a:t>Link : </a:t>
            </a:r>
            <a:r>
              <a:rPr lang="en-US" dirty="0">
                <a:hlinkClick r:id="rId2"/>
              </a:rPr>
              <a:t>https://ieeexplore.ieee.org/document/271947/</a:t>
            </a:r>
            <a:endParaRPr lang="en-US" dirty="0"/>
          </a:p>
          <a:p>
            <a:pPr marL="0" indent="0" algn="just">
              <a:buNone/>
            </a:pPr>
            <a:endParaRPr lang="en-US" dirty="0"/>
          </a:p>
          <a:p>
            <a:pPr marL="0" indent="0" algn="just">
              <a:buNone/>
            </a:pPr>
            <a:r>
              <a:rPr lang="en-US" dirty="0"/>
              <a:t>2. DC-</a:t>
            </a:r>
            <a:r>
              <a:rPr lang="en-US" dirty="0" err="1"/>
              <a:t>PoET</a:t>
            </a:r>
            <a:r>
              <a:rPr lang="en-US" dirty="0"/>
              <a:t>: Proof-of-Elapsed-Time Consensus with       Distributed Coordination for Blockchain Networks by</a:t>
            </a:r>
          </a:p>
          <a:p>
            <a:pPr marL="0" indent="0" algn="just">
              <a:buNone/>
            </a:pPr>
            <a:r>
              <a:rPr lang="en-US" dirty="0" err="1"/>
              <a:t>Amitangshu</a:t>
            </a:r>
            <a:r>
              <a:rPr lang="en-US" dirty="0"/>
              <a:t> Pal and Krishna Kant. (2021)</a:t>
            </a:r>
          </a:p>
          <a:p>
            <a:pPr marL="0" indent="0" algn="just">
              <a:buNone/>
            </a:pPr>
            <a:r>
              <a:rPr lang="en-US" dirty="0"/>
              <a:t>Link : https://ieeexplore.ieee.org/document/9472787/</a:t>
            </a:r>
          </a:p>
          <a:p>
            <a:pPr marL="0" indent="0" algn="just">
              <a:buNone/>
            </a:pPr>
            <a:endParaRPr lang="en-US" dirty="0"/>
          </a:p>
          <a:p>
            <a:pPr marL="0" indent="0" algn="just">
              <a:buNone/>
            </a:pPr>
            <a:r>
              <a:rPr lang="en-US" dirty="0"/>
              <a:t>3. Feature Extraction of Network Traffic in Ethereum Blockchain Network Layer for Eclipse Attack Detection</a:t>
            </a:r>
          </a:p>
          <a:p>
            <a:pPr marL="0" indent="0" algn="just">
              <a:buNone/>
            </a:pPr>
            <a:r>
              <a:rPr lang="en-US" dirty="0" err="1"/>
              <a:t>Dhanasak</a:t>
            </a:r>
            <a:r>
              <a:rPr lang="en-US" dirty="0"/>
              <a:t> </a:t>
            </a:r>
            <a:r>
              <a:rPr lang="en-US" dirty="0" err="1"/>
              <a:t>Bhumichai</a:t>
            </a:r>
            <a:r>
              <a:rPr lang="en-US" dirty="0"/>
              <a:t> and Ryan Benton (2023)</a:t>
            </a:r>
          </a:p>
          <a:p>
            <a:pPr marL="0" indent="0" algn="just">
              <a:buNone/>
            </a:pPr>
            <a:r>
              <a:rPr lang="en-US" dirty="0"/>
              <a:t>Link : https://ieeexplore.ieee.org/document/10115068/</a:t>
            </a:r>
          </a:p>
          <a:p>
            <a:pPr marL="0" indent="0" algn="l">
              <a:buNone/>
            </a:pPr>
            <a:endParaRPr lang="en-US" dirty="0"/>
          </a:p>
          <a:p>
            <a:pPr marL="0" indent="0" algn="l">
              <a:buNone/>
            </a:pPr>
            <a:endParaRPr lang="en-US" dirty="0"/>
          </a:p>
          <a:p>
            <a:pPr marL="457200" indent="-457200">
              <a:buAutoNum type="arabicPeriod"/>
            </a:pPr>
            <a:endParaRPr lang="en-US" dirty="0"/>
          </a:p>
          <a:p>
            <a:pPr marL="457200" indent="-457200">
              <a:buAutoNum type="arabicPeriod"/>
            </a:pPr>
            <a:endParaRPr lang="en-US" dirty="0"/>
          </a:p>
        </p:txBody>
      </p:sp>
      <p:sp>
        <p:nvSpPr>
          <p:cNvPr id="5" name="Slide Number Placeholder 4"/>
          <p:cNvSpPr>
            <a:spLocks noGrp="1"/>
          </p:cNvSpPr>
          <p:nvPr>
            <p:ph type="sldNum" sz="quarter" idx="15"/>
          </p:nvPr>
        </p:nvSpPr>
        <p:spPr/>
        <p:txBody>
          <a:bodyPr/>
          <a:lstStyle/>
          <a:p>
            <a:fld id="{64FE01CD-3F2C-4288-9BAE-4826118C0AF0}" type="slidenum">
              <a:rPr lang="en-US" smtClean="0"/>
              <a:pPr/>
              <a:t>15</a:t>
            </a:fld>
            <a:endParaRPr lang="en-US"/>
          </a:p>
        </p:txBody>
      </p:sp>
      <p:sp>
        <p:nvSpPr>
          <p:cNvPr id="7" name="TextBox 6"/>
          <p:cNvSpPr txBox="1"/>
          <p:nvPr/>
        </p:nvSpPr>
        <p:spPr>
          <a:xfrm>
            <a:off x="304800" y="6477000"/>
            <a:ext cx="3124200" cy="230832"/>
          </a:xfrm>
          <a:prstGeom prst="rect">
            <a:avLst/>
          </a:prstGeom>
          <a:noFill/>
        </p:spPr>
        <p:txBody>
          <a:bodyPr wrap="square" rtlCol="0">
            <a:spAutoFit/>
          </a:bodyPr>
          <a:lstStyle/>
          <a:p>
            <a:r>
              <a:rPr lang="en-US" sz="900" err="1"/>
              <a:t>Dept</a:t>
            </a:r>
            <a:r>
              <a:rPr lang="en-US" sz="900"/>
              <a:t> of Computer </a:t>
            </a:r>
            <a:r>
              <a:rPr lang="en-US" sz="900" err="1"/>
              <a:t>Engg</a:t>
            </a:r>
            <a:r>
              <a:rPr lang="en-US" sz="900"/>
              <a:t>. SVKM IOT </a:t>
            </a:r>
            <a:r>
              <a:rPr lang="en-US" sz="900" err="1"/>
              <a:t>Dhule</a:t>
            </a:r>
            <a:endParaRPr lang="en-US" sz="900"/>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7924800" y="228600"/>
            <a:ext cx="638175" cy="763270"/>
          </a:xfrm>
          <a:prstGeom prst="rect">
            <a:avLst/>
          </a:prstGeom>
          <a:noFill/>
        </p:spPr>
      </p:pic>
    </p:spTree>
    <p:extLst>
      <p:ext uri="{BB962C8B-B14F-4D97-AF65-F5344CB8AC3E}">
        <p14:creationId xmlns:p14="http://schemas.microsoft.com/office/powerpoint/2010/main" val="322280224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4B0B94-10C8-C66A-7254-E476C30B9F65}"/>
              </a:ext>
            </a:extLst>
          </p:cNvPr>
          <p:cNvSpPr>
            <a:spLocks noGrp="1"/>
          </p:cNvSpPr>
          <p:nvPr>
            <p:ph sz="quarter" idx="1"/>
          </p:nvPr>
        </p:nvSpPr>
        <p:spPr>
          <a:xfrm>
            <a:off x="290051" y="302342"/>
            <a:ext cx="7467600" cy="6245942"/>
          </a:xfrm>
        </p:spPr>
        <p:txBody>
          <a:bodyPr/>
          <a:lstStyle/>
          <a:p>
            <a:pPr marL="0" indent="0" algn="just">
              <a:buNone/>
            </a:pPr>
            <a:r>
              <a:rPr lang="en-IN" dirty="0"/>
              <a:t>4. </a:t>
            </a:r>
            <a:r>
              <a:rPr lang="en-US" dirty="0"/>
              <a:t>Ethereum: A Next-Generation Smart Contract and Decentralized Application Platform (</a:t>
            </a:r>
            <a:r>
              <a:rPr lang="en-US" dirty="0" err="1"/>
              <a:t>Februari</a:t>
            </a:r>
            <a:r>
              <a:rPr lang="en-US" dirty="0"/>
              <a:t> 9, 2021) (Updated 2023)</a:t>
            </a:r>
          </a:p>
          <a:p>
            <a:pPr marL="0" indent="0" algn="just">
              <a:buNone/>
            </a:pPr>
            <a:r>
              <a:rPr lang="en-IN" dirty="0" err="1"/>
              <a:t>WhitepaperLink</a:t>
            </a:r>
            <a:r>
              <a:rPr lang="en-IN" dirty="0"/>
              <a:t>: </a:t>
            </a:r>
            <a:r>
              <a:rPr lang="en-IN" dirty="0">
                <a:hlinkClick r:id="rId2"/>
              </a:rPr>
              <a:t>https://whitepaper.io/document/718/ethereum-whitepaper</a:t>
            </a:r>
            <a:endParaRPr lang="en-IN" dirty="0"/>
          </a:p>
          <a:p>
            <a:pPr marL="0" indent="0" algn="just">
              <a:buNone/>
            </a:pPr>
            <a:endParaRPr lang="en-IN" dirty="0"/>
          </a:p>
          <a:p>
            <a:pPr marL="0" indent="0" algn="just">
              <a:buNone/>
            </a:pPr>
            <a:r>
              <a:rPr lang="en-IN" dirty="0"/>
              <a:t>5.</a:t>
            </a:r>
            <a:r>
              <a:rPr lang="en-US" dirty="0"/>
              <a:t> Solana: A new architecture for a high performance blockchain v0.8.13</a:t>
            </a:r>
            <a:r>
              <a:rPr lang="en-IN" dirty="0"/>
              <a:t> (updated 2022)</a:t>
            </a:r>
          </a:p>
          <a:p>
            <a:pPr marL="0" indent="0" algn="just">
              <a:buNone/>
            </a:pPr>
            <a:r>
              <a:rPr lang="en-IN" dirty="0"/>
              <a:t>Link : </a:t>
            </a:r>
            <a:r>
              <a:rPr lang="en-IN" dirty="0">
                <a:hlinkClick r:id="rId3"/>
              </a:rPr>
              <a:t>https://whitepaper.io/document/602/solana-whitepaper</a:t>
            </a:r>
            <a:endParaRPr lang="en-IN" dirty="0"/>
          </a:p>
          <a:p>
            <a:pPr marL="0" indent="0">
              <a:buNone/>
            </a:pPr>
            <a:endParaRPr lang="en-IN" dirty="0"/>
          </a:p>
          <a:p>
            <a:pPr marL="0" indent="0">
              <a:buNone/>
            </a:pPr>
            <a:endParaRPr lang="en-IN" dirty="0"/>
          </a:p>
        </p:txBody>
      </p:sp>
      <p:sp>
        <p:nvSpPr>
          <p:cNvPr id="4" name="Slide Number Placeholder 3">
            <a:extLst>
              <a:ext uri="{FF2B5EF4-FFF2-40B4-BE49-F238E27FC236}">
                <a16:creationId xmlns:a16="http://schemas.microsoft.com/office/drawing/2014/main" id="{00F18F7E-BE1D-7987-8200-E76E5B245284}"/>
              </a:ext>
            </a:extLst>
          </p:cNvPr>
          <p:cNvSpPr>
            <a:spLocks noGrp="1"/>
          </p:cNvSpPr>
          <p:nvPr>
            <p:ph type="sldNum" sz="quarter" idx="15"/>
          </p:nvPr>
        </p:nvSpPr>
        <p:spPr/>
        <p:txBody>
          <a:bodyPr/>
          <a:lstStyle/>
          <a:p>
            <a:fld id="{64FE01CD-3F2C-4288-9BAE-4826118C0AF0}" type="slidenum">
              <a:rPr lang="en-US" smtClean="0"/>
              <a:pPr/>
              <a:t>16</a:t>
            </a:fld>
            <a:endParaRPr lang="en-US"/>
          </a:p>
        </p:txBody>
      </p:sp>
    </p:spTree>
    <p:extLst>
      <p:ext uri="{BB962C8B-B14F-4D97-AF65-F5344CB8AC3E}">
        <p14:creationId xmlns:p14="http://schemas.microsoft.com/office/powerpoint/2010/main" val="2516135811"/>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Thermal</Template>
  <TotalTime>260</TotalTime>
  <Words>1550</Words>
  <Application>Microsoft Office PowerPoint</Application>
  <PresentationFormat>On-screen Show (4:3)</PresentationFormat>
  <Paragraphs>194</Paragraphs>
  <Slides>16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Century Schoolbook</vt:lpstr>
      <vt:lpstr>Söhne</vt:lpstr>
      <vt:lpstr>Verdana</vt:lpstr>
      <vt:lpstr>Wingdings</vt:lpstr>
      <vt:lpstr>Wingdings 2</vt:lpstr>
      <vt:lpstr>Oriel</vt:lpstr>
      <vt:lpstr> Lightning sidebridge for web3</vt:lpstr>
      <vt:lpstr>Outline</vt:lpstr>
      <vt:lpstr>Introduction &amp; Motivation </vt:lpstr>
      <vt:lpstr>Literature Survey </vt:lpstr>
      <vt:lpstr>PowerPoint Presentation</vt:lpstr>
      <vt:lpstr>PowerPoint Presentation</vt:lpstr>
      <vt:lpstr>Limitation and future scope in Existing System</vt:lpstr>
      <vt:lpstr>PowerPoint Presentation</vt:lpstr>
      <vt:lpstr>PowerPoint Presentation</vt:lpstr>
      <vt:lpstr>Proposed System</vt:lpstr>
      <vt:lpstr>Tools &amp; Technologies to be used          </vt:lpstr>
      <vt:lpstr>Focus on Proposed Methodology </vt:lpstr>
      <vt:lpstr>Project Progress Timeline</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- 1 Introduction To Software Engineering</dc:title>
  <dc:creator>BHUSHAN</dc:creator>
  <cp:lastModifiedBy>rishi badgujar</cp:lastModifiedBy>
  <cp:revision>33</cp:revision>
  <dcterms:created xsi:type="dcterms:W3CDTF">2011-11-16T06:23:35Z</dcterms:created>
  <dcterms:modified xsi:type="dcterms:W3CDTF">2023-08-19T09:58:43Z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2023-08-18T18:37:24Z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14761d64-543f-4055-860f-9c333772b11f</vt:lpwstr>
  </property>
  <property fmtid="{D5CDD505-2E9C-101B-9397-08002B2CF9AE}" pid="7" name="MSIP_Label_defa4170-0d19-0005-0004-bc88714345d2_ActionId">
    <vt:lpwstr>417238b3-40b8-4c32-afaa-a43bce91a3d2</vt:lpwstr>
  </property>
  <property fmtid="{D5CDD505-2E9C-101B-9397-08002B2CF9AE}" pid="8" name="MSIP_Label_defa4170-0d19-0005-0004-bc88714345d2_ContentBits">
    <vt:lpwstr>0</vt:lpwstr>
  </property>
</Properties>
</file>